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29260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A098"/>
                </a:solidFill>
                <a:latin typeface="Calibri"/>
              </a:rPr>
              <a:t>MÔN: BIỂU DIỄN TRI THỨC (BDTT)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HỆ THỐNG HỖ TRỢ GIẢI BÀI TẬP LẬP TRÌNH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CÓ HƯỚNG DẪN TỪNG BƯỚC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D7E2F5"/>
                </a:solidFill>
                <a:latin typeface="Calibri"/>
              </a:rPr>
              <a:t>Chẩn đoán lỗi logic &amp; thuật toán trong mã nguồn sinh viên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D7E2F5"/>
                </a:solidFill>
                <a:latin typeface="Calibri"/>
              </a:rPr>
              <a:t>và sinh lời giải từng bước dựa trên Mô hình Tri thức Lỗi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FB6DB"/>
                </a:solidFill>
                <a:latin typeface="Calibri"/>
              </a:rPr>
              <a:t>Project 1  ·  Ứng dụng Ontology + Hệ luật dẫn + LLM  ·  ĐHQG-HCM, UIT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Nội dung trình bày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9903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2A5F"/>
                </a:solidFill>
                <a:latin typeface="Calibri"/>
              </a:rPr>
              <a:t>Đặt vấn đề &amp; Mục tiêu    </a:t>
            </a:r>
            <a:r>
              <a:rPr sz="1300" b="0" i="1">
                <a:solidFill>
                  <a:srgbClr val="555F6B"/>
                </a:solidFill>
                <a:latin typeface="Calibri"/>
              </a:rPr>
              <a:t>Bối cảnh, thách thức, yêu cầu sản phẩm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093976"/>
            <a:ext cx="502920" cy="502920"/>
          </a:xfrm>
          <a:prstGeom prst="ellipse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9397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7568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2A5F"/>
                </a:solidFill>
                <a:latin typeface="Calibri"/>
              </a:rPr>
              <a:t>Nền tảng Biểu diễn Tri thức    </a:t>
            </a:r>
            <a:r>
              <a:rPr sz="1300" b="0" i="1">
                <a:solidFill>
                  <a:srgbClr val="555F6B"/>
                </a:solidFill>
                <a:latin typeface="Calibri"/>
              </a:rPr>
              <a:t>Ontology · Hệ luật dẫn · Mô hình tri thức quan hệ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770632"/>
            <a:ext cx="502920" cy="502920"/>
          </a:xfrm>
          <a:prstGeom prst="ellipse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7063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52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2A5F"/>
                </a:solidFill>
                <a:latin typeface="Calibri"/>
              </a:rPr>
              <a:t>Quy trình thiết kế hệ CSTT    </a:t>
            </a:r>
            <a:r>
              <a:rPr sz="1300" b="0" i="1">
                <a:solidFill>
                  <a:srgbClr val="555F6B"/>
                </a:solidFill>
                <a:latin typeface="Calibri"/>
              </a:rPr>
              <a:t>4 giai đoạn: thu thập → CSTT → suy diễn → giao diện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47288"/>
            <a:ext cx="502920" cy="502920"/>
          </a:xfrm>
          <a:prstGeom prst="ellipse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472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42900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2A5F"/>
                </a:solidFill>
                <a:latin typeface="Calibri"/>
              </a:rPr>
              <a:t>Mô hình tri thức của hệ thống    </a:t>
            </a:r>
            <a:r>
              <a:rPr sz="1300" b="0" i="1">
                <a:solidFill>
                  <a:srgbClr val="555F6B"/>
                </a:solidFill>
                <a:latin typeface="Calibri"/>
              </a:rPr>
              <a:t>4 tầng Ontology &amp; quan hệ Bài toán–Lỗi–Sửa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123944"/>
            <a:ext cx="502920" cy="502920"/>
          </a:xfrm>
          <a:prstGeom prst="ellipse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2394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10565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2A5F"/>
                </a:solidFill>
                <a:latin typeface="Calibri"/>
              </a:rPr>
              <a:t>Kiến trúc &amp; Pipeline chẩn đoán    </a:t>
            </a:r>
            <a:r>
              <a:rPr sz="1300" b="0" i="1">
                <a:solidFill>
                  <a:srgbClr val="555F6B"/>
                </a:solidFill>
                <a:latin typeface="Calibri"/>
              </a:rPr>
              <a:t>Static Analyzers → Evidence → Rule → Ranking → LLM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78231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2A5F"/>
                </a:solidFill>
                <a:latin typeface="Calibri"/>
              </a:rPr>
              <a:t>Thực nghiệm &amp; Đánh giá    </a:t>
            </a:r>
            <a:r>
              <a:rPr sz="1300" b="0" i="1">
                <a:solidFill>
                  <a:srgbClr val="555F6B"/>
                </a:solidFill>
                <a:latin typeface="Calibri"/>
              </a:rPr>
              <a:t>So sánh Hệ lai (Hybrid) vs. Chỉ dùng LLM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477256"/>
            <a:ext cx="502920" cy="502920"/>
          </a:xfrm>
          <a:prstGeom prst="ellipse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47725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45896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2A5F"/>
                </a:solidFill>
                <a:latin typeface="Calibri"/>
              </a:rPr>
              <a:t>Kết luận &amp; Hướng phát triển    </a:t>
            </a:r>
            <a:r>
              <a:rPr sz="1300" b="0" i="1">
                <a:solidFill>
                  <a:srgbClr val="555F6B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Project 1 — Biểu diễn Tri thức · Hệ hỗ trợ giải bài tập lập trình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F2A5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1. Đặt vấn đề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31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FD3F2"/>
                </a:solidFill>
                <a:latin typeface="Calibri"/>
              </a:rPr>
              <a:t>Vì sao cần một hệ thống dựa trên tri thức?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Sinh viên học lập trình thường mắc các lỗi logic &amp; thuật toán lặp lại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Lỗi vòng lặp vô hạn, điều kiện biên sai (off-by-one)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Lỗi quản lý bộ nhớ: rò rỉ, con trỏ NULL, use-after-free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Lỗi đệ quy không tiến về base case, thiếu return…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Công cụ hiện có chỉ báo lỗi, KHÔNG giải thích theo ngữ cảnh bài toán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Trình biên dịch/linter: thông báo khó hiểu, không gắn với thuật toán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Chỉ dùng LLM: trả lời trôi chảy nhưng dễ 'ảo giác', thiếu kiểm chứng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Nhu cầu: một hệ thống chẩn đoán CHÍNH XÁC + GIẢI THÍCH được + HƯỚNG DẪN từng bước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Project 1 — Biểu diễn Tri thức · Hệ hỗ trợ giải bài tập lập trình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F2A5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1. Mục tiêu &amp; Yêu cầu sản phẩm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31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FD3F2"/>
                </a:solidFill>
                <a:latin typeface="Calibri"/>
              </a:rPr>
              <a:t>Trích từ đề bài Project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solidFill>
            <a:srgbClr val="EF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50292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MỤC TIÊU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B2433"/>
                </a:solidFill>
                <a:latin typeface="Calibri"/>
              </a:rPr>
              <a:t>• Chẩn đoán lỗi logic &amp; thuật toán trong mã nguồn C/C++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B2433"/>
                </a:solidFill>
                <a:latin typeface="Calibri"/>
              </a:rPr>
              <a:t>• Sinh lời giải TỪNG BƯỚC có giải thích ngữ cảnh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1">
                <a:solidFill>
                  <a:srgbClr val="555F6B"/>
                </a:solidFill>
                <a:latin typeface="Calibri"/>
              </a:rPr>
              <a:t>   (Context-Aware Explanations)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B2433"/>
                </a:solidFill>
                <a:latin typeface="Calibri"/>
              </a:rPr>
              <a:t>• Dựa trên MÔ HÌNH TRI THỨC LỖI được mô hình hóa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B2433"/>
                </a:solidFill>
                <a:latin typeface="Calibri"/>
              </a:rPr>
              <a:t>• Kết hợp suy luận dựa trên luật + LLM phân tích ngữ nghĩa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349240" cy="4480560"/>
          </a:xfrm>
          <a:prstGeom prst="rect">
            <a:avLst/>
          </a:prstGeom>
          <a:solidFill>
            <a:srgbClr val="EF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49240" cy="502920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7160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YÊU CẦU SẢN PHẨM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B2433"/>
                </a:solidFill>
                <a:latin typeface="Calibri"/>
              </a:rPr>
              <a:t>✔ Giao diện nhập bài &amp; hiển thị lời giải từng bước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B2433"/>
                </a:solidFill>
                <a:latin typeface="Calibri"/>
              </a:rPr>
              <a:t>✔ CSDL tri thức bài tập (theo chủ đề)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B2433"/>
                </a:solidFill>
                <a:latin typeface="Calibri"/>
              </a:rPr>
              <a:t>✔ Mô hình biểu diễn lỗi và cách sửa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B2433"/>
                </a:solidFill>
                <a:latin typeface="Calibri"/>
              </a:rPr>
              <a:t>✔ So sánh hiệu quả: Hệ thống xây dựng vs. chỉ dùng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Project 1 — Biểu diễn Tri thức · Hệ hỗ trợ giải bài tập lập trình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F2A5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2. Nền tảng Biểu diễn Tri thức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31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FD3F2"/>
                </a:solidFill>
                <a:latin typeface="Calibri"/>
              </a:rPr>
              <a:t>Các phương pháp BDTT được vận dụng trong đề tài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97480" cy="3108960"/>
          </a:xfrm>
          <a:prstGeom prst="rect">
            <a:avLst/>
          </a:prstGeom>
          <a:solidFill>
            <a:srgbClr val="EFF3FA"/>
          </a:solidFill>
          <a:ln w="19050">
            <a:solidFill>
              <a:srgbClr val="14A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2697480" cy="960120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Ontology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423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433"/>
                </a:solidFill>
                <a:latin typeface="Calibri"/>
              </a:rPr>
              <a:t>Biểu diễn khái niệm, quan hệ, phân cấp lĩnh vực C/C++ và lỗi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371600"/>
            <a:ext cx="2697480" cy="3108960"/>
          </a:xfrm>
          <a:prstGeom prst="rect">
            <a:avLst/>
          </a:prstGeom>
          <a:solidFill>
            <a:srgbClr val="EFF3FA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371600"/>
            <a:ext cx="2697480" cy="9601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137160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Hệ luật dẫn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(Rule-based)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468880"/>
            <a:ext cx="2423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433"/>
                </a:solidFill>
                <a:latin typeface="Calibri"/>
              </a:rPr>
              <a:t>Luật IF evidence THEN bug — suy diễn tiến để chẩn đoán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1371600"/>
            <a:ext cx="2697480" cy="3108960"/>
          </a:xfrm>
          <a:prstGeom prst="rect">
            <a:avLst/>
          </a:prstGeom>
          <a:solidFill>
            <a:srgbClr val="EFF3FA"/>
          </a:solidFill>
          <a:ln w="19050">
            <a:solidFill>
              <a:srgbClr val="1F4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7064" y="1371600"/>
            <a:ext cx="2697480" cy="96012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137160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Mô hình tri thức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quan hệ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468880"/>
            <a:ext cx="2423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433"/>
                </a:solidFill>
                <a:latin typeface="Calibri"/>
              </a:rPr>
              <a:t>Bộ (C, R, Rules): khái niệm – quan hệ 2 ngôi – luật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1371600"/>
            <a:ext cx="2697480" cy="3108960"/>
          </a:xfrm>
          <a:prstGeom prst="rect">
            <a:avLst/>
          </a:prstGeom>
          <a:solidFill>
            <a:srgbClr val="EFF3FA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9136" y="1371600"/>
            <a:ext cx="2697480" cy="9601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137160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Mạng tính toán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&amp; Mẫu bài toán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2468880"/>
            <a:ext cx="2423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433"/>
                </a:solidFill>
                <a:latin typeface="Calibri"/>
              </a:rPr>
              <a:t>Suy luận theo mẫu (Polya) để dẫn dắt từng bước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634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5F6B"/>
                </a:solidFill>
                <a:latin typeface="Calibri"/>
              </a:rPr>
              <a:t>Nguồn: tài liệu môn học — Tổng quan BDTT, Các phương pháp BDTT cơ bản (Logic, Mạng ngữ nghĩa, Hệ luật dẫn, Frame/Script), Ontology, Mô hình tri thức quan hệ, Mạng tính toán.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Project 1 — Biểu diễn Tri thức · Hệ hỗ trợ giải bài tập lập trình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F2A5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2a. Ontology — Xương sống tri thức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31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FD3F2"/>
                </a:solidFill>
                <a:latin typeface="Calibri"/>
              </a:rPr>
              <a:t>Tài liệu: 7. Ontology.pdf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Ontology = bảng từ vựng chung + cấu trúc khái niệm của một lĩnh vực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Chia sẻ hiểu biết chung, tái sử dụng và tích hợp tri thức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Thành phần: Khái niệm (lớp) – Thuộc tính – Quan hệ – Ràng buộc – Thể hiện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Vì sao chọn Ontology cho đề tài?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Miền C/C++ có phân cấp rõ: biến → mảng → vòng lặp → đệ quy → CTDL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Lỗi lập trình gắn với khái niệm &amp; triệu chứng → mô hình hóa tự nhiên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Dễ mở rộng: thêm loại lỗi mới = thêm nút &amp; quan hệ, không sửa mã suy diễn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Triển khai bằng đồ thị tri thức Neo4j (nodes/relationships/luật Cypher)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Project 1 — Biểu diễn Tri thức · Hệ hỗ trợ giải bài tập lập trình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F2A5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2b. Hệ luật dẫn &amp; Suy luận dựa trên luật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31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FD3F2"/>
                </a:solidFill>
                <a:latin typeface="Calibri"/>
              </a:rPr>
              <a:t>Tài liệu: 2a/2b. Các phương pháp BDTT cơ bản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Tri thức chẩn đoán biểu diễn bằng LUẬT DẪN (production rules)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Dạng: IF &lt;tập bằng chứng/khái niệm&gt; THEN &lt;lỗi&gt; với độ tin cậy (confidence)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VD: IF vòng lặp có biên 'i &lt;= n' THEN off_by_one / array_out_of_bounds (0.91)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Cơ chế suy diễn tiến (forward chaining)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Bằng chứng (Evidence) từ phân tích → kích hoạt luật → tập lỗi ứng viên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Xếp hạng ứng viên theo điểm: 0.5·luật + 0.42·bằng chứng + thưởng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Ưu điểm so với 'hộp đen' LLM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Minh bạch, giải thích được (truy vết luật ↔ bằng chứng ↔ dòng lệnh)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Kết quả xác định (deterministic), có thể kiểm chứng &amp; lặp lại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Project 1 — Biểu diễn Tri thức · Hệ hỗ trợ giải bài tập lập trình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F2A5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2c. Mô hình tri thức quan hệ &amp; Mẫu bài toán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31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FD3F2"/>
                </a:solidFill>
                <a:latin typeface="Calibri"/>
              </a:rPr>
              <a:t>Tài liệu: 6/6b. Mô hình tri thức quan hệ · 5b. Mạng tính toán dùng mẫu bài toán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532120" cy="4480560"/>
          </a:xfrm>
          <a:prstGeom prst="rect">
            <a:avLst/>
          </a:prstGeom>
          <a:solidFill>
            <a:srgbClr val="EFF3FA"/>
          </a:solidFill>
          <a:ln w="19050">
            <a:solidFill>
              <a:srgbClr val="1F4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4E9B"/>
                </a:solidFill>
                <a:latin typeface="Calibri"/>
              </a:rPr>
              <a:t>Mô hình quan hệ (Rela-model) = (C, R, Rules)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029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B2433"/>
                </a:solidFill>
                <a:latin typeface="Calibri"/>
              </a:rPr>
              <a:t>C — Tập khái niệm: mỗi khái niệm là lớp đối tượng có thuộc tính &amp; hành vi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B2433"/>
                </a:solidFill>
                <a:latin typeface="Calibri"/>
              </a:rPr>
              <a:t>R — Tập quan hệ hai ngôi giữa các khái niệm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B2433"/>
                </a:solidFill>
                <a:latin typeface="Calibri"/>
              </a:rPr>
              <a:t>Rules — Tập luật dẫn suy diễn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F2A5F"/>
                </a:solidFill>
                <a:latin typeface="Calibri"/>
              </a:rPr>
              <a:t>→ Áp dụng: chuỗi quan hệ của đề tài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Calibri"/>
              </a:rPr>
              <a:t>Bài toán → Thuật toán → Cấu trúc DL → Lỗi → Hướng sửa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371600"/>
            <a:ext cx="5303520" cy="4480560"/>
          </a:xfrm>
          <a:prstGeom prst="rect">
            <a:avLst/>
          </a:prstGeom>
          <a:solidFill>
            <a:srgbClr val="EFF3FA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087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8B57"/>
                </a:solidFill>
                <a:latin typeface="Calibri"/>
              </a:rPr>
              <a:t>Hướng dẫn từng bước theo Polya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937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1">
                <a:solidFill>
                  <a:srgbClr val="1B2433"/>
                </a:solidFill>
                <a:latin typeface="Calibri"/>
              </a:rPr>
              <a:t>“How to solve it?” — giải theo mẫu bài toán quen thuộc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B2433"/>
                </a:solidFill>
                <a:latin typeface="Calibri"/>
              </a:rPr>
              <a:t>1. Định vị bằng chứng lỗi mạnh nhất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B2433"/>
                </a:solidFill>
                <a:latin typeface="Calibri"/>
              </a:rPr>
              <a:t>2. Giải thích mâu thuẫn với yêu cầu bài toán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B2433"/>
                </a:solidFill>
                <a:latin typeface="Calibri"/>
              </a:rPr>
              <a:t>3. Kết nối tới bước sửa nhỏ &amp; an toàn nhất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F2A5F"/>
                </a:solidFill>
                <a:latin typeface="Calibri"/>
              </a:rPr>
              <a:t>→ Sinh Explanation + Repair Plan từng bước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Project 1 — Biểu diễn Tri thức · Hệ hỗ trợ giải bài tập lập trình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F2A5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3. Quy trình thiết kế hệ Cơ sở tri thức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31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FD3F2"/>
                </a:solidFill>
                <a:latin typeface="Calibri"/>
              </a:rPr>
              <a:t>Tài liệu: 3. Các quy trình trong Thiết kế hệ CSTT — ánh xạ vào đề tài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9748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4A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2697480" cy="457200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Giai đoạn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2697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A098"/>
                </a:solidFill>
                <a:latin typeface="Calibri"/>
              </a:rPr>
              <a:t>Thu thập tri thức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A098"/>
                </a:solidFill>
                <a:latin typeface="Calibri"/>
              </a:rPr>
              <a:t>&amp; bài toán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2423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433"/>
                </a:solidFill>
                <a:latin typeface="Calibri"/>
              </a:rPr>
              <a:t>Sách bài tập C/C++, phân loại theo chủ đề, tập luật lỗi thường gặp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27432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555F6B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1371600"/>
            <a:ext cx="269748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371600"/>
            <a:ext cx="2697480" cy="45720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1371600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Giai đoạn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1938528"/>
            <a:ext cx="2697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4E9B"/>
                </a:solidFill>
                <a:latin typeface="Calibri"/>
              </a:rPr>
              <a:t>Thiết kế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4E9B"/>
                </a:solidFill>
                <a:latin typeface="Calibri"/>
              </a:rPr>
              <a:t>Cơ sở tri thức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3063240"/>
            <a:ext cx="2423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433"/>
                </a:solidFill>
                <a:latin typeface="Calibri"/>
              </a:rPr>
              <a:t>4 tầng Ontology trên Neo4j: Khái niệm · Lỗi · Luật · Giải thích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4" y="27432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555F6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71600"/>
            <a:ext cx="269748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1371600"/>
            <a:ext cx="2697480" cy="457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1371600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Giai đoạn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1938528"/>
            <a:ext cx="2697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Thiết kế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bộ suy diễn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063240"/>
            <a:ext cx="2423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433"/>
                </a:solidFill>
                <a:latin typeface="Calibri"/>
              </a:rPr>
              <a:t>Pipeline: phân tích → bằng chứng → luật → xếp hạng →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6" y="27432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555F6B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89136" y="1371600"/>
            <a:ext cx="269748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89136" y="1371600"/>
            <a:ext cx="2697480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9136" y="1371600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Giai đoạn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1938528"/>
            <a:ext cx="2697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Thiết kế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giao diện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3063240"/>
            <a:ext cx="2423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433"/>
                </a:solidFill>
                <a:latin typeface="Calibri"/>
              </a:rPr>
              <a:t>Web nhập bài &amp; hiển thị lời giải từng bước (FastAPI + HTML/JS)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Project 1 — Biểu diễn Tri thức · Hệ hỗ trợ giải bài tập lập trình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F2A5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4. Mô hình biểu diễn tri thức của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31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FD3F2"/>
                </a:solidFill>
                <a:latin typeface="Calibri"/>
              </a:rPr>
              <a:t>4 tầng Ontology &amp; quan hệ Bài toán – Lỗi – Hướng sửa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503920" cy="960120"/>
          </a:xfrm>
          <a:prstGeom prst="rect">
            <a:avLst/>
          </a:prstGeom>
          <a:solidFill>
            <a:srgbClr val="EFF3FA"/>
          </a:solidFill>
          <a:ln w="19050">
            <a:solidFill>
              <a:srgbClr val="14A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46304" cy="960120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A098"/>
                </a:solidFill>
                <a:latin typeface="Calibri"/>
              </a:rPr>
              <a:t>Tầng 1 — Concept Ontology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4708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433"/>
                </a:solidFill>
                <a:latin typeface="Calibri"/>
              </a:rPr>
              <a:t>Kiến thức C/C++: biến, mảng, vòng lặp, đệ quy, con trỏ, CTDL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371600"/>
            <a:ext cx="2286000" cy="960120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371600"/>
            <a:ext cx="2286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concepts/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Neo4j graph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8503920" cy="960120"/>
          </a:xfrm>
          <a:prstGeom prst="rect">
            <a:avLst/>
          </a:prstGeom>
          <a:solidFill>
            <a:srgbClr val="EFF3FA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50592"/>
            <a:ext cx="146304" cy="9601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67E22"/>
                </a:solidFill>
                <a:latin typeface="Calibri"/>
              </a:rPr>
              <a:t>Tầng 2 — Bug Ontology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2608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433"/>
                </a:solidFill>
                <a:latin typeface="Calibri"/>
              </a:rPr>
              <a:t>Lỗi thường gặp + triệu chứng (symptom) + quan niệm sai (misconception)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2450592"/>
            <a:ext cx="2286000" cy="9601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450592"/>
            <a:ext cx="2286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bugs/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Neo4j graph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29584"/>
            <a:ext cx="8503920" cy="960120"/>
          </a:xfrm>
          <a:prstGeom prst="rect">
            <a:avLst/>
          </a:prstGeom>
          <a:solidFill>
            <a:srgbClr val="EFF3FA"/>
          </a:solidFill>
          <a:ln w="19050">
            <a:solidFill>
              <a:srgbClr val="1F4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529584"/>
            <a:ext cx="146304" cy="96012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02736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4E9B"/>
                </a:solidFill>
                <a:latin typeface="Calibri"/>
              </a:rPr>
              <a:t>Tầng 3 — Diagnostic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0507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433"/>
                </a:solidFill>
                <a:latin typeface="Calibri"/>
              </a:rPr>
              <a:t>Luật: từ Evidence + Concept → Bug (kèm độ tin cậy)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3529584"/>
            <a:ext cx="2286000" cy="96012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3529584"/>
            <a:ext cx="2286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diagnostic/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Neo4j graph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608576"/>
            <a:ext cx="8503920" cy="960120"/>
          </a:xfrm>
          <a:prstGeom prst="rect">
            <a:avLst/>
          </a:prstGeom>
          <a:solidFill>
            <a:srgbClr val="EFF3FA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608576"/>
            <a:ext cx="146304" cy="9601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8172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8B57"/>
                </a:solidFill>
                <a:latin typeface="Calibri"/>
              </a:rPr>
              <a:t>Tầng 4 — Explanation &amp;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84064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433"/>
                </a:solidFill>
                <a:latin typeface="Calibri"/>
              </a:rPr>
              <a:t>Sinh giải thích từng bước + kế hoạch sửa (Repair Plan)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4608576"/>
            <a:ext cx="2286000" cy="9601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4608576"/>
            <a:ext cx="2286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explanation/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Neo4j graph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Project 1 — Biểu diễn Tri thức · Hệ hỗ trợ giải bài tập lập trình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F2A5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5. Kiến trúc tổng quan hệ thống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371600"/>
            <a:ext cx="3200400" cy="68580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Frontend (HTML/JS)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Nhập code + hiển thị lời giải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97880" y="2084832"/>
            <a:ext cx="365760" cy="457200"/>
          </a:xfrm>
          <a:prstGeom prst="downArrow">
            <a:avLst/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2578608"/>
            <a:ext cx="3200400" cy="68580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578608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FastAPI Backend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POST /diagnose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97880" y="3291840"/>
            <a:ext cx="365760" cy="457200"/>
          </a:xfrm>
          <a:prstGeom prst="downArrow">
            <a:avLst/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840480"/>
            <a:ext cx="3383280" cy="1280160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33832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Static Analyzers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Clang AST · Static · Tidy
Sandbox · ASan/UBSan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840480"/>
            <a:ext cx="3383280" cy="1280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840480"/>
            <a:ext cx="33832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Semantic LLM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Phân tích ngữ nghĩa
+ Sinh phản hồi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840480"/>
            <a:ext cx="3383280" cy="12801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840480"/>
            <a:ext cx="33832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Graph DB — Neo4j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4 tầng Ontology
Luật chẩn đoán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94960"/>
            <a:ext cx="10881360" cy="1234440"/>
          </a:xfrm>
          <a:prstGeom prst="rect">
            <a:avLst/>
          </a:prstGeom>
          <a:solidFill>
            <a:srgbClr val="EFF3FA"/>
          </a:solidFill>
          <a:ln w="19050">
            <a:solidFill>
              <a:srgbClr val="0F2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68112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2A5F"/>
                </a:solidFill>
                <a:latin typeface="Calibri"/>
              </a:rPr>
              <a:t>Lõi suy diễn (Diagnostic Pipeline): </a:t>
            </a:r>
            <a:r>
              <a:rPr sz="1400" b="0">
                <a:solidFill>
                  <a:srgbClr val="1B2433"/>
                </a:solidFill>
                <a:latin typeface="Calibri"/>
              </a:rPr>
              <a:t>Evidence Builder → match_rules → Bug Ranking → chọn Explanation/Repair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2A5F"/>
                </a:solidFill>
                <a:latin typeface="Calibri"/>
              </a:rPr>
              <a:t>Kết quả: </a:t>
            </a:r>
            <a:r>
              <a:rPr sz="1300" b="0">
                <a:solidFill>
                  <a:srgbClr val="1B2433"/>
                </a:solidFill>
                <a:latin typeface="Calibri"/>
              </a:rPr>
              <a:t>Báo cáo chẩn đoán + lời giải từng bước + hướng sửa, gắn với dòng lệnh cụ thể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Project 1 — Biểu diễn Tri thức · Hệ hỗ trợ giải bài tập lập trình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F2A5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5. Pipeline chẩn đoán — Code →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31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FD3F2"/>
                </a:solidFill>
                <a:latin typeface="Calibri"/>
              </a:rPr>
              <a:t>diagnostic_pipeline/pipeline.py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① Static Analyzers: biên dịch &amp; chạy thử, thu thập EvidenceInstance[]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Clang AST/Static/Tidy, LocalSandbox (chạy thử), Sanitizer (ASan/UBSan)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② Evidence Builder: gộp &amp; khử trùng lặp bằng chứng, suy ra khái niệm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③ Graph Repository: match_rules(evidence, concepts) → RuleHit[]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Truy vấn 4 tầng Ontology (Neo4j) hoặc bản in-memory offline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④ Bug Ranking Engine: điểm = 0.5·luật + 0.42·bằng chứng + thưởng nguồn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Chọn lỗi hàng đầu nếu vượt ngưỡng tin cậy (min_confidence = 0.45)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⑤ LLM Semantic + Feedback: diễn giải ngôn ngữ tự nhiên (có kiểm chứng)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→ Kết xuất: DiagnosticReport = giải thích từng bước + Repair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Project 1 — Biểu diễn Tri thức · Hệ hỗ trợ giải bài tập lập trình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F2A5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5. Ví dụ minh họa — lỗi Off-by-one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31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FD3F2"/>
                </a:solidFill>
                <a:latin typeface="Calibri"/>
              </a:rPr>
              <a:t>Bài: tính tổng n phần tử mảng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577840" cy="4480560"/>
          </a:xfrm>
          <a:prstGeom prst="rect">
            <a:avLst/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F8F8F2"/>
                </a:solidFill>
                <a:latin typeface="Calibri"/>
              </a:rPr>
              <a:t>int n = 5;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F8F8F2"/>
                </a:solidFill>
                <a:latin typeface="Calibri"/>
              </a:rPr>
              <a:t>int a[5] = {1,2,3,4,5};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F8F8F2"/>
                </a:solidFill>
                <a:latin typeface="Calibri"/>
              </a:rPr>
              <a:t>int sum = 0;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F8F8F2"/>
                </a:solidFill>
                <a:latin typeface="Calibri"/>
              </a:rPr>
              <a:t>for (int i = 0; i &lt;= n; ++i)   // BUG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F8F8F2"/>
                </a:solidFill>
                <a:latin typeface="Calibri"/>
              </a:rPr>
              <a:t>    sum += a[i];   // đọc a[5] ngoài biên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F8F8F2"/>
                </a:solidFill>
                <a:latin typeface="Calibri"/>
              </a:rPr>
              <a:t>std::cout &lt;&lt; sum;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349240" cy="1005840"/>
          </a:xfrm>
          <a:prstGeom prst="rect">
            <a:avLst/>
          </a:prstGeom>
          <a:solidFill>
            <a:srgbClr val="EFF3FA"/>
          </a:solidFill>
          <a:ln w="19050">
            <a:solidFill>
              <a:srgbClr val="14A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146304" cy="1005840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630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A098"/>
                </a:solidFill>
                <a:latin typeface="Calibri"/>
              </a:rPr>
              <a:t>Bằng chứng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433"/>
                </a:solidFill>
                <a:latin typeface="Calibri"/>
              </a:rPr>
              <a:t>Sanitizer báo đọc ngoài biên tại a[5]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487168"/>
            <a:ext cx="5349240" cy="1005840"/>
          </a:xfrm>
          <a:prstGeom prst="rect">
            <a:avLst/>
          </a:prstGeom>
          <a:solidFill>
            <a:srgbClr val="EFF3FA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487168"/>
            <a:ext cx="146304" cy="10058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57860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67E22"/>
                </a:solidFill>
                <a:latin typeface="Calibri"/>
              </a:rPr>
              <a:t>Luật kích hoạt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990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433"/>
                </a:solidFill>
                <a:latin typeface="Calibri"/>
              </a:rPr>
              <a:t>loop 'i&lt;=n' → off_by_one / array_out_of_bounds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602736"/>
            <a:ext cx="5349240" cy="1005840"/>
          </a:xfrm>
          <a:prstGeom prst="rect">
            <a:avLst/>
          </a:prstGeom>
          <a:solidFill>
            <a:srgbClr val="EFF3FA"/>
          </a:solidFill>
          <a:ln w="19050">
            <a:solidFill>
              <a:srgbClr val="1F4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602736"/>
            <a:ext cx="146304" cy="100584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694176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9B"/>
                </a:solidFill>
                <a:latin typeface="Calibri"/>
              </a:rPr>
              <a:t>Chẩn đoán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0565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433"/>
                </a:solidFill>
                <a:latin typeface="Calibri"/>
              </a:rPr>
              <a:t>array_out_of_bounds — độ tin cậy 0.955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718304"/>
            <a:ext cx="5349240" cy="1005840"/>
          </a:xfrm>
          <a:prstGeom prst="rect">
            <a:avLst/>
          </a:prstGeom>
          <a:solidFill>
            <a:srgbClr val="EFF3FA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718304"/>
            <a:ext cx="146304" cy="10058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80974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Hướng sửa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221224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433"/>
                </a:solidFill>
                <a:latin typeface="Calibri"/>
              </a:rPr>
              <a:t>Đổi 'i &lt;= n' thành 'i &lt; n' (biên trên loại trừ)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Project 1 — Biểu diễn Tri thức · Hệ hỗ trợ giải bài tập lập trình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F2A5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6. Thực nghiệm &amp; Đánh giá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31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FD3F2"/>
                </a:solidFill>
                <a:latin typeface="Calibri"/>
              </a:rPr>
              <a:t>13 test-case · So sánh Hệ lai (Hybrid) vs. Chỉ dùng 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611880" cy="1554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13/13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3611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Độ chính xác Hybrid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100% phát hiện đúng loại lỗi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371600"/>
            <a:ext cx="3611880" cy="1554480"/>
          </a:xfrm>
          <a:prstGeom prst="rect">
            <a:avLst/>
          </a:prstGeom>
          <a:solidFill>
            <a:srgbClr val="1F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46304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~3.7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2240280"/>
            <a:ext cx="3611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Thời gian TB / case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Phân tích tĩnh chạy offline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8" y="1371600"/>
            <a:ext cx="3611880" cy="1554480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8" y="146304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9 loại lỗi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8" y="2240280"/>
            <a:ext cx="3611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Bao phủ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off-by-one, OOB, NULL, leak, UAF…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3931920" cy="566928"/>
          </a:xfrm>
          <a:prstGeom prst="rect">
            <a:avLst/>
          </a:prstGeom>
          <a:solidFill>
            <a:srgbClr val="0F2A5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00400"/>
            <a:ext cx="3749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Tiêu chí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200400"/>
            <a:ext cx="3840480" cy="566928"/>
          </a:xfrm>
          <a:prstGeom prst="rect">
            <a:avLst/>
          </a:prstGeom>
          <a:solidFill>
            <a:srgbClr val="0F2A5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3200400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Hệ lai (Hybrid)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3200400"/>
            <a:ext cx="3657600" cy="566928"/>
          </a:xfrm>
          <a:prstGeom prst="rect">
            <a:avLst/>
          </a:prstGeom>
          <a:solidFill>
            <a:srgbClr val="0F2A5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3200400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Chỉ dùng LLM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67328"/>
            <a:ext cx="3931920" cy="566928"/>
          </a:xfrm>
          <a:prstGeom prst="rect">
            <a:avLst/>
          </a:prstGeom>
          <a:solidFill>
            <a:srgbClr val="EFF3FA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767328"/>
            <a:ext cx="3749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433"/>
                </a:solidFill>
                <a:latin typeface="Calibri"/>
              </a:rPr>
              <a:t>Phát hiện đúng lỗi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767328"/>
            <a:ext cx="3840480" cy="566928"/>
          </a:xfrm>
          <a:prstGeom prst="rect">
            <a:avLst/>
          </a:prstGeom>
          <a:solidFill>
            <a:srgbClr val="EFF3FA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767328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E8B57"/>
                </a:solidFill>
                <a:latin typeface="Calibri"/>
              </a:rPr>
              <a:t>13/13 (xác định)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767328"/>
            <a:ext cx="3657600" cy="566928"/>
          </a:xfrm>
          <a:prstGeom prst="rect">
            <a:avLst/>
          </a:prstGeom>
          <a:solidFill>
            <a:srgbClr val="EFF3FA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3767328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55F6B"/>
                </a:solidFill>
                <a:latin typeface="Calibri"/>
              </a:rPr>
              <a:t>Thấp &amp; không ổn định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334256"/>
            <a:ext cx="393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334256"/>
            <a:ext cx="3749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433"/>
                </a:solidFill>
                <a:latin typeface="Calibri"/>
              </a:rPr>
              <a:t>Giải thích / truy vết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4334256"/>
            <a:ext cx="3840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0288" y="4334256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E8B57"/>
                </a:solidFill>
                <a:latin typeface="Calibri"/>
              </a:rPr>
              <a:t>Có — luật ↔ bằng chứng ↔ dòng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4334256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0768" y="4334256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55F6B"/>
                </a:solidFill>
                <a:latin typeface="Calibri"/>
              </a:rPr>
              <a:t>Khó kiểm chứng, dễ 'ảo giác'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901184"/>
            <a:ext cx="3931920" cy="566928"/>
          </a:xfrm>
          <a:prstGeom prst="rect">
            <a:avLst/>
          </a:prstGeom>
          <a:solidFill>
            <a:srgbClr val="EFF3FA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901184"/>
            <a:ext cx="3749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433"/>
                </a:solidFill>
                <a:latin typeface="Calibri"/>
              </a:rPr>
              <a:t>Tính lặp lại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4901184"/>
            <a:ext cx="3840480" cy="566928"/>
          </a:xfrm>
          <a:prstGeom prst="rect">
            <a:avLst/>
          </a:prstGeom>
          <a:solidFill>
            <a:srgbClr val="EFF3FA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0288" y="4901184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E8B57"/>
                </a:solidFill>
                <a:latin typeface="Calibri"/>
              </a:rPr>
              <a:t>Xác định (deterministic)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4901184"/>
            <a:ext cx="3657600" cy="566928"/>
          </a:xfrm>
          <a:prstGeom prst="rect">
            <a:avLst/>
          </a:prstGeom>
          <a:solidFill>
            <a:srgbClr val="EFF3FA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8" y="4901184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55F6B"/>
                </a:solidFill>
                <a:latin typeface="Calibri"/>
              </a:rPr>
              <a:t>Ngẫu nhiên theo lần gọi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468112"/>
            <a:ext cx="393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468112"/>
            <a:ext cx="3749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433"/>
                </a:solidFill>
                <a:latin typeface="Calibri"/>
              </a:rPr>
              <a:t>Chi phí / phụ thuộc mạng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5468112"/>
            <a:ext cx="3840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90288" y="5468112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E8B57"/>
                </a:solidFill>
                <a:latin typeface="Calibri"/>
              </a:rPr>
              <a:t>Phân tích tĩnh chạy offline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5468112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0768" y="5468112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55F6B"/>
                </a:solidFill>
                <a:latin typeface="Calibri"/>
              </a:rPr>
              <a:t>Luôn cần gọi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Project 1 — Biểu diễn Tri thức · Hệ hỗ trợ giải bài tập lập trình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F2A5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6. Kết quả chi tiết theo test-case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977639" cy="342900"/>
          </a:xfrm>
          <a:prstGeom prst="rect">
            <a:avLst/>
          </a:prstGeom>
          <a:solidFill>
            <a:srgbClr val="0F2A5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3867911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Test-case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371600"/>
            <a:ext cx="2743200" cy="342900"/>
          </a:xfrm>
          <a:prstGeom prst="rect">
            <a:avLst/>
          </a:prstGeom>
          <a:solidFill>
            <a:srgbClr val="0F2A5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1" y="1371600"/>
            <a:ext cx="263347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Kỳ vọng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79" y="1371600"/>
            <a:ext cx="3108960" cy="342900"/>
          </a:xfrm>
          <a:prstGeom prst="rect">
            <a:avLst/>
          </a:prstGeom>
          <a:solidFill>
            <a:srgbClr val="0F2A5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1" y="1371600"/>
            <a:ext cx="299923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Hệ thống phát hiện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9839" y="1371600"/>
            <a:ext cx="868680" cy="342900"/>
          </a:xfrm>
          <a:prstGeom prst="rect">
            <a:avLst/>
          </a:prstGeom>
          <a:solidFill>
            <a:srgbClr val="0F2A5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22991" y="1371600"/>
            <a:ext cx="75895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Conf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18519" y="1371600"/>
            <a:ext cx="777240" cy="342900"/>
          </a:xfrm>
          <a:prstGeom prst="rect">
            <a:avLst/>
          </a:prstGeom>
          <a:solidFill>
            <a:srgbClr val="0F2A5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91671" y="13716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KQ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714500"/>
            <a:ext cx="3977639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1714500"/>
            <a:ext cx="3867911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off_by_one_01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1714500"/>
            <a:ext cx="274320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714500"/>
            <a:ext cx="263347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off_by_one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79" y="1714500"/>
            <a:ext cx="31089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1" y="1714500"/>
            <a:ext cx="299923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array_out_of_bounds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39" y="1714500"/>
            <a:ext cx="86868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2991" y="1714500"/>
            <a:ext cx="75895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0.96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018519" y="1714500"/>
            <a:ext cx="7772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91671" y="17145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1" y="17145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057400"/>
            <a:ext cx="3977639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" y="2057400"/>
            <a:ext cx="3867911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off_by_one_02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79" y="2057400"/>
            <a:ext cx="274320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1" y="2057400"/>
            <a:ext cx="263347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off_by_one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79" y="2057400"/>
            <a:ext cx="31089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031" y="2057400"/>
            <a:ext cx="299923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array_out_of_bounds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49839" y="2057400"/>
            <a:ext cx="86868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22991" y="2057400"/>
            <a:ext cx="75895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0.96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018519" y="2057400"/>
            <a:ext cx="7772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91671" y="20574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1671" y="20574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400300"/>
            <a:ext cx="3977639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2400300"/>
            <a:ext cx="3867911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null_deref_01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79" y="2400300"/>
            <a:ext cx="274320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1" y="2400300"/>
            <a:ext cx="263347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null_dereference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79" y="2400300"/>
            <a:ext cx="31089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14031" y="2400300"/>
            <a:ext cx="299923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null_dereference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49839" y="2400300"/>
            <a:ext cx="86868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22991" y="2400300"/>
            <a:ext cx="75895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0.90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18519" y="2400300"/>
            <a:ext cx="7772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91671" y="24003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1671" y="24003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2743200"/>
            <a:ext cx="3977639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2743200"/>
            <a:ext cx="3867911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memory_leak_01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79" y="2743200"/>
            <a:ext cx="274320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70831" y="2743200"/>
            <a:ext cx="263347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memory_leak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40879" y="2743200"/>
            <a:ext cx="31089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14031" y="2743200"/>
            <a:ext cx="299923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memory_leak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49839" y="2743200"/>
            <a:ext cx="86868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22991" y="2743200"/>
            <a:ext cx="75895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0.73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18519" y="2743200"/>
            <a:ext cx="7772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091671" y="27432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1671" y="27432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3086100"/>
            <a:ext cx="3977639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3192" y="3086100"/>
            <a:ext cx="3867911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missing_return_01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97679" y="3086100"/>
            <a:ext cx="274320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70831" y="3086100"/>
            <a:ext cx="263347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missing_return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40879" y="3086100"/>
            <a:ext cx="31089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14031" y="3086100"/>
            <a:ext cx="299923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missing_return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149839" y="3086100"/>
            <a:ext cx="86868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22991" y="3086100"/>
            <a:ext cx="75895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0.99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018519" y="3086100"/>
            <a:ext cx="7772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091671" y="30861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91671" y="30861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3429000"/>
            <a:ext cx="3977639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3192" y="3429000"/>
            <a:ext cx="3867911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array_oob_01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79" y="3429000"/>
            <a:ext cx="274320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70831" y="3429000"/>
            <a:ext cx="263347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array_out_of_bounds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40879" y="3429000"/>
            <a:ext cx="31089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14031" y="3429000"/>
            <a:ext cx="299923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array_out_of_bounds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9839" y="3429000"/>
            <a:ext cx="86868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222991" y="3429000"/>
            <a:ext cx="75895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0.96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018519" y="3429000"/>
            <a:ext cx="7772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091671" y="34290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91671" y="34290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" y="3771900"/>
            <a:ext cx="3977639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93192" y="3771900"/>
            <a:ext cx="3867911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infinite_loop_01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79" y="3771900"/>
            <a:ext cx="274320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70831" y="3771900"/>
            <a:ext cx="263347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wrong_loop_condition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40879" y="3771900"/>
            <a:ext cx="31089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14031" y="3771900"/>
            <a:ext cx="299923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wrong_loop_condition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149839" y="3771900"/>
            <a:ext cx="86868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22991" y="3771900"/>
            <a:ext cx="75895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0.95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018519" y="3771900"/>
            <a:ext cx="7772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091671" y="37719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✓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091671" y="37719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0040" y="4114800"/>
            <a:ext cx="3977639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3192" y="4114800"/>
            <a:ext cx="3867911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use_after_free_01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297679" y="4114800"/>
            <a:ext cx="274320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70831" y="4114800"/>
            <a:ext cx="263347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use_after_free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040879" y="4114800"/>
            <a:ext cx="31089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114031" y="4114800"/>
            <a:ext cx="299923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use_after_free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49839" y="4114800"/>
            <a:ext cx="86868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22991" y="4114800"/>
            <a:ext cx="75895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0.90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018519" y="4114800"/>
            <a:ext cx="7772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091671" y="41148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✓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091671" y="41148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20040" y="4457700"/>
            <a:ext cx="3977639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93192" y="4457700"/>
            <a:ext cx="3867911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recursion_no_progress_01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297679" y="4457700"/>
            <a:ext cx="274320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370831" y="4457700"/>
            <a:ext cx="263347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no_recursive_progress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040879" y="4457700"/>
            <a:ext cx="31089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114031" y="4457700"/>
            <a:ext cx="299923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no_recursive_progress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149839" y="4457700"/>
            <a:ext cx="86868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22991" y="4457700"/>
            <a:ext cx="75895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0.75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018519" y="4457700"/>
            <a:ext cx="7772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091671" y="44577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✓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91671" y="44577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0040" y="4800600"/>
            <a:ext cx="3977639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93192" y="4800600"/>
            <a:ext cx="3867911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correct_sum_01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297679" y="4800600"/>
            <a:ext cx="274320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370831" y="4800600"/>
            <a:ext cx="263347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(không lỗi)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040879" y="4800600"/>
            <a:ext cx="31089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114031" y="4800600"/>
            <a:ext cx="299923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(không lỗi)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149839" y="4800600"/>
            <a:ext cx="86868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222991" y="4800600"/>
            <a:ext cx="75895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018519" y="4800600"/>
            <a:ext cx="7772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091671" y="48006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091671" y="48006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20040" y="5143500"/>
            <a:ext cx="3977639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93192" y="5143500"/>
            <a:ext cx="3867911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bubble_sort_oob_01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297679" y="5143500"/>
            <a:ext cx="274320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370831" y="5143500"/>
            <a:ext cx="263347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off_by_one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040879" y="5143500"/>
            <a:ext cx="31089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114031" y="5143500"/>
            <a:ext cx="299923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array_out_of_bounds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149839" y="5143500"/>
            <a:ext cx="86868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222991" y="5143500"/>
            <a:ext cx="75895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0.92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1018519" y="5143500"/>
            <a:ext cx="7772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1091671" y="51435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✓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091671" y="51435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20040" y="5486400"/>
            <a:ext cx="3977639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93192" y="5486400"/>
            <a:ext cx="3867911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binary_search_wrong_01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297679" y="5486400"/>
            <a:ext cx="274320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370831" y="5486400"/>
            <a:ext cx="263347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wrong_loop_condition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040879" y="5486400"/>
            <a:ext cx="31089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114031" y="5486400"/>
            <a:ext cx="299923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infinite_loop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149839" y="5486400"/>
            <a:ext cx="86868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222991" y="5486400"/>
            <a:ext cx="75895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0.76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018519" y="5486400"/>
            <a:ext cx="7772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091671" y="54864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✓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91671" y="54864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20040" y="5829300"/>
            <a:ext cx="3977639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93192" y="5829300"/>
            <a:ext cx="3867911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factorial_rec_missing_return_01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297679" y="5829300"/>
            <a:ext cx="274320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370831" y="5829300"/>
            <a:ext cx="263347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missing_return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040879" y="5829300"/>
            <a:ext cx="31089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114031" y="5829300"/>
            <a:ext cx="299923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missing_return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0149839" y="5829300"/>
            <a:ext cx="86868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222991" y="5829300"/>
            <a:ext cx="75895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0.89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1018519" y="5829300"/>
            <a:ext cx="7772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1091671" y="58293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B2433"/>
                </a:solidFill>
                <a:latin typeface="Calibri"/>
              </a:rPr>
              <a:t>✓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1091671" y="5829300"/>
            <a:ext cx="667512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20040" y="617220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55F6B"/>
                </a:solidFill>
                <a:latin typeface="Calibri"/>
              </a:rPr>
              <a:t>Off-by-one &amp; OOB được chấp nhận là tương đương (cùng một luật chẩn đoán sinh ra).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Project 1 — Biểu diễn Tri thức · Hệ hỗ trợ giải bài tập lập trình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F2A5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7. Kết luận &amp; 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Kết quả đạt được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Mô hình hóa tri thức lỗi bằng 4 tầng Ontology + Hệ luật dẫn (Neo4j)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Pipeline chẩn đoán lai: phân tích tĩnh/động + suy luận luật + LLM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Sinh lời giải từng bước, gắn bằng chứng với dòng lệnh cụ thể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Hybrid đạt 13/13, minh bạch &amp; xác định — vượt trội 'hộp đen' LLM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Ưu điểm của hướng tiếp cận dựa trên tri thức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Giải thích được, kiểm chứng được, dễ mở rộng loại lỗi mới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4A098"/>
                </a:solidFill>
                <a:latin typeface="Calibri"/>
              </a:rPr>
              <a:t>▸ </a:t>
            </a:r>
            <a:r>
              <a:rPr sz="1800" b="1">
                <a:solidFill>
                  <a:srgbClr val="0F2A5F"/>
                </a:solidFill>
                <a:latin typeface="Calibri"/>
              </a:rPr>
              <a:t>Hướng phát triển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Mở rộng Bug Ontology &amp; tập bài tập; hỗ trợ nhiều ngôn ngữ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67E22"/>
                </a:solidFill>
                <a:latin typeface="Calibri"/>
              </a:rPr>
              <a:t>      •  </a:t>
            </a:r>
            <a:r>
              <a:rPr sz="1500" b="0">
                <a:solidFill>
                  <a:srgbClr val="555F6B"/>
                </a:solidFill>
                <a:latin typeface="Calibri"/>
              </a:rPr>
              <a:t>Cá nhân hóa lộ trình học theo lịch sử lỗi của sinh viên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F6B"/>
                </a:solidFill>
                <a:latin typeface="Calibri"/>
              </a:rPr>
              <a:t>Project 1 — Biểu diễn Tri thức · Hệ hỗ trợ giải bài tập lập trình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F2A5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CẢM ƠN THẦY CÔ &amp; CÁC BẠN ĐÃ LẮNG NGHE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7D6EE"/>
                </a:solidFill>
                <a:latin typeface="Calibri"/>
              </a:rPr>
              <a:t>Sẵn sàng cho phần Hỏi — Đáp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