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HỆ THỐNG HỖ TRỢ GIẢI BÀI TẬP</a:t>
            </a:r>
            <a:br/>
            <a:r>
              <a:t>LẬP TRÌNH CÓ HƯỚNG DẪN TỪNG BƯỚC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3C5FD"/>
                </a:solidFill>
              </a:defRPr>
            </a:pPr>
            <a:r>
              <a:t>Project 1 — Môn học: Biểu Diễn Tri Thức (BDTT)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91840"/>
            <a:ext cx="32004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FFFFFF"/>
                </a:solidFill>
              </a:defRPr>
            </a:pPr>
            <a:r>
              <a:t>Giảng viên: PGS.TS. Nguyễn Đình Hiển</a:t>
            </a:r>
          </a:p>
          <a:p>
            <a:pPr>
              <a:spcAft>
                <a:spcPts val="300"/>
              </a:spcAft>
              <a:defRPr sz="1800" b="0">
                <a:solidFill>
                  <a:srgbClr val="FFFFFF"/>
                </a:solidFill>
              </a:defRPr>
            </a:pPr>
            <a:r>
              <a:t>Trường ĐH Công nghệ Thông tin — ĐHQG-HCM</a:t>
            </a:r>
          </a:p>
          <a:p>
            <a:pPr>
              <a:spcAft>
                <a:spcPts val="300"/>
              </a:spcAft>
              <a:defRPr sz="1000" b="0">
                <a:solidFill>
                  <a:srgbClr val="FFFFFF"/>
                </a:solidFill>
              </a:defRPr>
            </a:pPr>
          </a:p>
          <a:p>
            <a:pPr>
              <a:spcAft>
                <a:spcPts val="300"/>
              </a:spcAft>
              <a:defRPr sz="2200" b="1">
                <a:solidFill>
                  <a:srgbClr val="FFFFFF"/>
                </a:solidFill>
              </a:defRPr>
            </a:pPr>
            <a:r>
              <a:t>Nhóm thực hiện: ...</a:t>
            </a:r>
          </a:p>
          <a:p>
            <a:pPr>
              <a:spcAft>
                <a:spcPts val="300"/>
              </a:spcAft>
              <a:defRPr sz="1000" b="0">
                <a:solidFill>
                  <a:srgbClr val="FFFFFF"/>
                </a:solidFill>
              </a:defRPr>
            </a:pPr>
          </a:p>
          <a:p>
            <a:pPr>
              <a:spcAft>
                <a:spcPts val="300"/>
              </a:spcAft>
              <a:defRPr sz="1800" b="0">
                <a:solidFill>
                  <a:srgbClr val="FFFFFF"/>
                </a:solidFill>
              </a:defRPr>
            </a:pPr>
            <a:r>
              <a:t>Học kỳ ... Năm học ...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72033"/>
                </a:solidFill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286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72033"/>
                </a:solidFill>
              </a:defRPr>
            </a:pPr>
            <a:r>
              <a:t>Tổng quan môn học &amp; đồ 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20700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708A"/>
                </a:solidFill>
              </a:defRPr>
            </a:pPr>
            <a:r>
              <a:t>Bài 1: Giới thiệu BDTT, mục tiêu đồ án, kiến trúc 4 tầng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691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72033"/>
                </a:solidFill>
              </a:defRPr>
            </a:pPr>
            <a:r>
              <a:t>Các phương pháp BDTT cơ bản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70992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708A"/>
                </a:solidFill>
              </a:defRPr>
            </a:pPr>
            <a:r>
              <a:t>Bài 2a/2b: Logic, Frame, Script, Mạng ngữ nghĩa — áp dụng vào Ontology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945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94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72033"/>
                </a:solidFill>
              </a:defRPr>
            </a:pPr>
            <a:r>
              <a:t>Quy trình thiết kế hệ CSTT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21284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708A"/>
                </a:solidFill>
              </a:defRPr>
            </a:pPr>
            <a:r>
              <a:t>Bài 3,4: Phân tích → Thiết kế → Thu thập tri thức → Cài đặt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697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72033"/>
                </a:solidFill>
              </a:defRPr>
            </a:pPr>
            <a:r>
              <a:t>Mô hình Problem ⇄ Algorithm ⇄ Data ⇄ Bug ⇄ Fix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71576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708A"/>
                </a:solidFill>
              </a:defRPr>
            </a:pPr>
            <a:r>
              <a:t>Bài 5,6,7: Mạng tính toán, Mô hình quan hệ, Ontology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200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72033"/>
                </a:solidFill>
              </a:defRPr>
            </a:pPr>
            <a:r>
              <a:t>CSDL tri thức bài tập (từ sách C/C++)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321868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708A"/>
                </a:solidFill>
              </a:defRPr>
            </a:pPr>
            <a:r>
              <a:t>16 bài tập từ giáo trình, phân loại theo chủ đề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03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703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72033"/>
                </a:solidFill>
              </a:defRPr>
            </a:pPr>
            <a:r>
              <a:t>Kiến trúc hệ thống &amp;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3721607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708A"/>
                </a:solidFill>
              </a:defRPr>
            </a:pPr>
            <a:r>
              <a:t>Code → Pattern Matching → Rule Triggered → Step Explanation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2062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206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72033"/>
                </a:solidFill>
              </a:defRPr>
            </a:pPr>
            <a:r>
              <a:t>Công nghệ &amp; Cài đặt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422452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708A"/>
                </a:solidFill>
              </a:defRPr>
            </a:pPr>
            <a:r>
              <a:t>Neo4j, Clang, FastAPI, Docker, LLM Integration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7091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709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72033"/>
                </a:solidFill>
              </a:defRPr>
            </a:pPr>
            <a:r>
              <a:t>Kết quả đánh giá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472744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708A"/>
                </a:solidFill>
              </a:defRPr>
            </a:pPr>
            <a:r>
              <a:t>Hybrid vs LLM-only trên benchmark cases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2120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212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72033"/>
                </a:solidFill>
              </a:defRPr>
            </a:pPr>
            <a:r>
              <a:t>Demo hệ thống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523036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708A"/>
                </a:solidFill>
              </a:defRPr>
            </a:pPr>
            <a:r>
              <a:t>Giao diện web, chẩn đoán real-time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715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5715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72033"/>
                </a:solidFill>
              </a:defRPr>
            </a:pPr>
            <a:r>
              <a:t>Kết luận &amp; Hướng phát triển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573328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708A"/>
                </a:solidFill>
              </a:defRPr>
            </a:pPr>
            <a:r>
              <a:t>Tổng kết, hạn chế, cải tiến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72033"/>
                </a:solidFill>
              </a:defRPr>
            </a:pPr>
            <a:r>
              <a:t>Ánh xạ đồ án với nội dung môn học BDTT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143000"/>
            <a:ext cx="3474720" cy="65836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2033"/>
                </a:solidFill>
              </a:defRPr>
            </a:pPr>
            <a:r>
              <a:t>Bài 1: Tổng quan BDTT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1143000"/>
            <a:ext cx="3474720" cy="65836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11887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72033"/>
                </a:solidFill>
              </a:defRPr>
            </a:pPr>
            <a:r>
              <a:t>Khái niệm tri thức,</a:t>
            </a:r>
            <a:br/>
            <a:r>
              <a:t>vấn đề BDTT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143000"/>
            <a:ext cx="4114800" cy="65836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118872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72033"/>
                </a:solidFill>
              </a:defRPr>
            </a:pPr>
            <a:r>
              <a:t>Mục tiêu, phạm vi,</a:t>
            </a:r>
            <a:br/>
            <a:r>
              <a:t>kiến trúc 4 tầng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892807"/>
            <a:ext cx="3474720" cy="65836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38527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2033"/>
                </a:solidFill>
              </a:defRPr>
            </a:pPr>
            <a:r>
              <a:t>Bài 2: PP BDTT cơ bản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1892807"/>
            <a:ext cx="3474720" cy="65836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938527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72033"/>
                </a:solidFill>
              </a:defRPr>
            </a:pPr>
            <a:r>
              <a:t>Logic, Frame,</a:t>
            </a:r>
            <a:br/>
            <a:r>
              <a:t>Mạng ngữ nghĩa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1892807"/>
            <a:ext cx="4114800" cy="65836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938527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72033"/>
                </a:solidFill>
              </a:defRPr>
            </a:pPr>
            <a:r>
              <a:t>Thiết kế Ontology,</a:t>
            </a:r>
            <a:br/>
            <a:r>
              <a:t>cấu trúc tri thức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642615"/>
            <a:ext cx="3474720" cy="65836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688335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2033"/>
                </a:solidFill>
              </a:defRPr>
            </a:pPr>
            <a:r>
              <a:t>Bài 3: Quy trình CSTT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23360" y="2642615"/>
            <a:ext cx="3474720" cy="65836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2688335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72033"/>
                </a:solidFill>
              </a:defRPr>
            </a:pPr>
            <a:r>
              <a:t>Phân tích, thiết kế,</a:t>
            </a:r>
            <a:br/>
            <a:r>
              <a:t>cài đặt hệ thống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2642615"/>
            <a:ext cx="4114800" cy="65836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2688335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72033"/>
                </a:solidFill>
              </a:defRPr>
            </a:pPr>
            <a:r>
              <a:t>Pipeline Code→Pattern</a:t>
            </a:r>
            <a:br/>
            <a:r>
              <a:t>→Rule→Explanation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392424"/>
            <a:ext cx="3474720" cy="65836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438144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2033"/>
                </a:solidFill>
              </a:defRPr>
            </a:pPr>
            <a:r>
              <a:t>Bài 4: Thu thập tri thức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23360" y="3392424"/>
            <a:ext cx="3474720" cy="65836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0" y="3438144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72033"/>
                </a:solidFill>
              </a:defRPr>
            </a:pPr>
            <a:r>
              <a:t>Nguồn tri thức,</a:t>
            </a:r>
            <a:br/>
            <a:r>
              <a:t>chuẩn hóa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0" y="3392424"/>
            <a:ext cx="4114800" cy="65836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3438144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72033"/>
                </a:solidFill>
              </a:defRPr>
            </a:pPr>
            <a:r>
              <a:t>16 bài tập từ sách</a:t>
            </a:r>
            <a:br/>
            <a:r>
              <a:t>C/C++, Bug Ontology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4142231"/>
            <a:ext cx="3474720" cy="65836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187951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2033"/>
                </a:solidFill>
              </a:defRPr>
            </a:pPr>
            <a:r>
              <a:t>Bài 5: Mạng tính toán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23360" y="4142231"/>
            <a:ext cx="3474720" cy="65836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0" y="4187951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72033"/>
                </a:solidFill>
              </a:defRPr>
            </a:pPr>
            <a:r>
              <a:t>Suy diễn trên</a:t>
            </a:r>
            <a:br/>
            <a:r>
              <a:t>mạng tính toán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80960" y="4142231"/>
            <a:ext cx="4114800" cy="65836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0" y="4187951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72033"/>
                </a:solidFill>
              </a:defRPr>
            </a:pPr>
            <a:r>
              <a:t>Rule-Based Reasoning,</a:t>
            </a:r>
            <a:br/>
            <a:r>
              <a:t>Bug Ranking Engine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4892040"/>
            <a:ext cx="3474720" cy="65836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93775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2033"/>
                </a:solidFill>
              </a:defRPr>
            </a:pPr>
            <a:r>
              <a:t>Bài 6: Mô hình quan hệ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023360" y="4892040"/>
            <a:ext cx="3474720" cy="65836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0" y="493775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72033"/>
                </a:solidFill>
              </a:defRPr>
            </a:pPr>
            <a:r>
              <a:t>Quan hệ, luật</a:t>
            </a:r>
            <a:br/>
            <a:r>
              <a:t>suy diễn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80960" y="4892040"/>
            <a:ext cx="4114800" cy="65836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0" y="4937759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72033"/>
                </a:solidFill>
              </a:defRPr>
            </a:pPr>
            <a:r>
              <a:t>Concept + Bug + Problem</a:t>
            </a:r>
            <a:br/>
            <a:r>
              <a:t>Ontology relationships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5760" y="5641848"/>
            <a:ext cx="3474720" cy="65836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68756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2033"/>
                </a:solidFill>
              </a:defRPr>
            </a:pPr>
            <a:r>
              <a:t>Bài 7: Ontology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023360" y="5641848"/>
            <a:ext cx="3474720" cy="65836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0" y="568756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72033"/>
                </a:solidFill>
              </a:defRPr>
            </a:pPr>
            <a:r>
              <a:t>Định nghĩa, phân</a:t>
            </a:r>
            <a:br/>
            <a:r>
              <a:t>loại Ontology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80960" y="5641848"/>
            <a:ext cx="4114800" cy="65836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63840" y="5687568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72033"/>
                </a:solidFill>
              </a:defRPr>
            </a:pPr>
            <a:r>
              <a:t>4 tầng Ontology đồ án</a:t>
            </a:r>
            <a:br/>
            <a:r>
              <a:t>+ Problem entity mới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00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708A"/>
                </a:solidFill>
              </a:defRPr>
            </a:pPr>
            <a:r>
              <a:t>Bài giảng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23360" y="6400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708A"/>
                </a:solidFill>
              </a:defRPr>
            </a:pPr>
            <a:r>
              <a:t>Nội dung lý thuyết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8096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708A"/>
                </a:solidFill>
              </a:defRPr>
            </a:pPr>
            <a:r>
              <a:t>Áp dụng trong đồ án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Mô hình tri thức: Bài toán  Algorithm  CTDL  Lỗi  Hướng khắc phục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011680" cy="146304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📋 Bài toán</a:t>
            </a:r>
            <a:br/>
            <a:r>
              <a:t>(Problem)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problem_id, title,</a:t>
            </a:r>
            <a:br/>
            <a:r>
              <a:t>description, category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9202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93C5FD"/>
                </a:solidFill>
              </a:defRPr>
            </a:pPr>
            <a:r>
              <a:t>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371600"/>
            <a:ext cx="2011680" cy="1463040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14630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⚙️ Thuật toán</a:t>
            </a:r>
            <a:br/>
            <a:r>
              <a:t>(Algorithm)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1031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algorithm_key,</a:t>
            </a:r>
            <a:br/>
            <a:r>
              <a:t>duyệt, sắp xếp,</a:t>
            </a:r>
            <a:br/>
            <a:r>
              <a:t>tìm kiếm, đệ quy...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202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93C5FD"/>
                </a:solidFill>
              </a:defRPr>
            </a:pPr>
            <a:r>
              <a:t>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371600"/>
            <a:ext cx="2011680" cy="1463040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14630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💾 Cấu trúc DL</a:t>
            </a:r>
            <a:br/>
            <a:r>
              <a:t>(Data Structure)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1031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mảng, danh sách,</a:t>
            </a:r>
            <a:br/>
            <a:r>
              <a:t>ngăn xếp, con trỏ...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9202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93C5FD"/>
                </a:solidFill>
              </a:defRPr>
            </a:pPr>
            <a:r>
              <a:t>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1371600"/>
            <a:ext cx="2011680" cy="1463040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4630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🐛 Lỗi thường gặp</a:t>
            </a:r>
            <a:br/>
            <a:r>
              <a:t>(Bug)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1031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off_by_one, null_deref,</a:t>
            </a:r>
            <a:br/>
            <a:r>
              <a:t>memory_leak...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19202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93C5FD"/>
                </a:solidFill>
              </a:defRPr>
            </a:pPr>
            <a:r>
              <a:t>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1371600"/>
            <a:ext cx="2011680" cy="1463040"/>
          </a:xfrm>
          <a:prstGeom prst="roundRect">
            <a:avLst/>
          </a:prstGeom>
          <a:solidFill>
            <a:srgbClr val="A85CE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630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🔧 Hướng khắc phục</a:t>
            </a:r>
            <a:br/>
            <a:r>
              <a:t>(Repair)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21031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boundary_validation,</a:t>
            </a:r>
            <a:br/>
            <a:r>
              <a:t>pointer_safety...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017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93C5FD"/>
                </a:solidFill>
              </a:defRPr>
            </a:pPr>
            <a:r>
              <a:t>Mối quan hệ hai chiều: Mỗi bài toán có thể dùng nhiều thuật toán; mỗi thuật toán có thể sai nhiều lỗi; mỗi lỗi có nhiều cách sửa.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566160"/>
            <a:ext cx="11247120" cy="292608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6576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CSDL tri thức bài tập (từ sách C/C++ cơ bản):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206240"/>
            <a:ext cx="3474720" cy="100584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19" y="427939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Mảng (4 bài)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19" y="46177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Tính tổng, Tìm max,</a:t>
            </a:r>
            <a:br/>
            <a:r>
              <a:t>Đảo ngược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4206240"/>
            <a:ext cx="3474720" cy="1005840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59" y="427939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Vòng lặp (3 bài)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59" y="46177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Giai thừa, Số nguyên tố,</a:t>
            </a:r>
            <a:br/>
            <a:r>
              <a:t>Fibonacci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59" y="4206240"/>
            <a:ext cx="3474720" cy="1005840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9" y="427939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Đệ quy (3 bài)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9" y="46177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Giai thừa, Fibonacci,</a:t>
            </a:r>
            <a:br/>
            <a:r>
              <a:t>Tháp Hà Nội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349240"/>
            <a:ext cx="3474720" cy="1005840"/>
          </a:xfrm>
          <a:prstGeom prst="roundRect">
            <a:avLst/>
          </a:prstGeom>
          <a:solidFill>
            <a:srgbClr val="A85CE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19" y="542239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CTDL (2 bài)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19" y="57607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DS liên kết, Ngăn xếp</a:t>
            </a:r>
            <a:br/>
            <a:r>
              <a:t>bằng mảng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89120" y="5349240"/>
            <a:ext cx="3474720" cy="1005840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80559" y="542239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Sắp xếp (3 bài)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59" y="57607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Bubble, Selection,</a:t>
            </a:r>
            <a:br/>
            <a:r>
              <a:t>Insertion Sort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59" y="5349240"/>
            <a:ext cx="3474720" cy="100584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599" y="542239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Tìm kiếm (2 bài)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599" y="57607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Tuyến tính,</a:t>
            </a:r>
            <a:br/>
            <a:r>
              <a:t>Nhị phân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30936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3C5FD"/>
                </a:solidFill>
              </a:defRPr>
            </a:pPr>
            <a:r>
              <a:t>Nguồn tham khảo: Sách Bài tập Lập trình C/C++ cơ bản — Khoa CNTT, ĐHQG-HCM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72033"/>
                </a:solidFill>
              </a:defRPr>
            </a:pPr>
            <a:r>
              <a:t>Kiến trúc hệ thống —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2194560" cy="1371600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280160"/>
            <a:ext cx="20482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72033"/>
                </a:solidFill>
              </a:defRPr>
            </a:pPr>
            <a:r>
              <a:t>1. Đề bài</a:t>
            </a:r>
            <a:br/>
            <a:r>
              <a:t>(Problem)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737360"/>
            <a:ext cx="20482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72033"/>
                </a:solidFill>
              </a:defRPr>
            </a:pPr>
            <a:r>
              <a:t>Input:</a:t>
            </a:r>
            <a:br/>
            <a:r>
              <a:t>problem_statement</a:t>
            </a:r>
            <a:br/>
            <a:r>
              <a:t>+ source_code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79" y="1645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188720"/>
            <a:ext cx="2194560" cy="1371600"/>
          </a:xfrm>
          <a:prstGeom prst="roundRect">
            <a:avLst/>
          </a:prstGeom>
          <a:solidFill>
            <a:srgbClr val="DBE8F0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24912" y="1280160"/>
            <a:ext cx="20482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72033"/>
                </a:solidFill>
              </a:defRPr>
            </a:pPr>
            <a:r>
              <a:t>2. Pattern</a:t>
            </a:r>
            <a:br/>
            <a:r>
              <a:t>Matching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24912" y="1737360"/>
            <a:ext cx="20482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72033"/>
                </a:solidFill>
              </a:defRPr>
            </a:pPr>
            <a:r>
              <a:t>ClangAST, --analyze,</a:t>
            </a:r>
            <a:br/>
            <a:r>
              <a:t>clang-tidy, Sanitizer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645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188720"/>
            <a:ext cx="2194560" cy="13716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02352" y="1280160"/>
            <a:ext cx="20482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72033"/>
                </a:solidFill>
              </a:defRPr>
            </a:pPr>
            <a:r>
              <a:t>3. Rule</a:t>
            </a:r>
            <a:br/>
            <a:r>
              <a:t>Triggered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2352" y="1737360"/>
            <a:ext cx="20482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72033"/>
                </a:solidFill>
              </a:defRPr>
            </a:pPr>
            <a:r>
              <a:t>Evidence → Rule hit</a:t>
            </a:r>
            <a:br/>
            <a:r>
              <a:t>(Bug matching)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1645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1188720"/>
            <a:ext cx="2194560" cy="137160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79792" y="1280160"/>
            <a:ext cx="20482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72033"/>
                </a:solidFill>
              </a:defRPr>
            </a:pPr>
            <a:r>
              <a:t>4. Explanation</a:t>
            </a:r>
            <a:br/>
            <a:r>
              <a:t>Generation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9792" y="1737360"/>
            <a:ext cx="20482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72033"/>
                </a:solidFill>
              </a:defRPr>
            </a:pPr>
            <a:r>
              <a:t>Context-aware</a:t>
            </a:r>
            <a:br/>
            <a:r>
              <a:t>step-by-step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1645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0" y="1188720"/>
            <a:ext cx="2194560" cy="137160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57232" y="1280160"/>
            <a:ext cx="20482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72033"/>
                </a:solidFill>
              </a:defRPr>
            </a:pPr>
            <a:r>
              <a:t>5. Feedback</a:t>
            </a:r>
            <a:br/>
            <a:r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57232" y="1737360"/>
            <a:ext cx="20482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72033"/>
                </a:solidFill>
              </a:defRPr>
            </a:pPr>
            <a:r>
              <a:t>NL feedback +</a:t>
            </a:r>
            <a:br/>
            <a:r>
              <a:t>repair 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7432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72033"/>
                </a:solidFill>
              </a:defRPr>
            </a:pPr>
            <a:r>
              <a:t>4 tầng Ontology đồ án: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108960"/>
            <a:ext cx="2560320" cy="8686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200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Tầng 1: Concept Ontology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5478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ProgrammingConcept</a:t>
            </a:r>
            <a:br/>
            <a:r>
              <a:t>+ Problem (MỚI!)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33832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0708A"/>
                </a:solidFill>
              </a:defRPr>
            </a:pPr>
            <a:r>
              <a:t>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0" y="3108960"/>
            <a:ext cx="2560320" cy="868680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0" y="3200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Tầng 2: Bug Ontology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35478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ProgrammingBug</a:t>
            </a:r>
            <a:br/>
            <a:r>
              <a:t>Symptom → Misconception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33832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0708A"/>
                </a:solidFill>
              </a:defRPr>
            </a:pPr>
            <a:r>
              <a:t>⬇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0" y="3108960"/>
            <a:ext cx="2560320" cy="868680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0" y="3200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Tầng 3: Diagnostic Rules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35478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DiagnosticRule</a:t>
            </a:r>
            <a:br/>
            <a:r>
              <a:t>+ Algorithm (MỚI!)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33832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0708A"/>
                </a:solidFill>
              </a:defRPr>
            </a:pPr>
            <a:r>
              <a:t>⬇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0" y="3108960"/>
            <a:ext cx="2560320" cy="868680"/>
          </a:xfrm>
          <a:prstGeom prst="roundRect">
            <a:avLst/>
          </a:prstGeom>
          <a:solidFill>
            <a:srgbClr val="A85CE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0" y="3200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Tầng 4: Explanation &amp; Fix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35478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ExplanationTemplate</a:t>
            </a:r>
            <a:br/>
            <a:r>
              <a:t>+ RepairPlan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206240"/>
            <a:ext cx="1124712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29768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2033"/>
                </a:solidFill>
              </a:defRPr>
            </a:pPr>
            <a:r>
              <a:t>Pipeline chi tiết (diagnose() flow):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466344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72033"/>
                </a:solidFill>
              </a:defRPr>
            </a:pPr>
            <a:r>
              <a:t>1. match_problems(problem_statement) → tìm bài toán phù hợp từ CSDL tri thức (16 bài)</a:t>
            </a:r>
            <a:br/>
            <a:r>
              <a:t>2. match_problem_rules(problem_id) → thêm rule dựa trên thuật toán của bài toán đó</a:t>
            </a:r>
            <a:br/>
            <a:r>
              <a:t>3. Static Analyzers (ClangAST → ClangStatic → clang-tidy) → Evidence</a:t>
            </a:r>
            <a:br/>
            <a:r>
              <a:t>4. Dynamic Analyzers (LocalSandbox → SanitizerRunner) → Evidence</a:t>
            </a:r>
            <a:br/>
            <a:r>
              <a:t>5. merge() → dedup → infer_concepts() → match_rules() → 14 evidence-to-rule mappings</a:t>
            </a:r>
            <a:br/>
            <a:r>
              <a:t>6. rank() → scoring engine (source weight 1.00–0.72 + rule score + bonuses)</a:t>
            </a:r>
            <a:br/>
            <a:r>
              <a:t>7. LLM semantic analysis → semantic_notes with causal_chain</a:t>
            </a:r>
            <a:br/>
            <a:r>
              <a:t>8. select_explanation() + select_repair_plan() → step-by-step guidance</a:t>
            </a:r>
            <a:br/>
            <a:r>
              <a:t>9. Feedback LLM → natural language diagnosis + why-wrong + next steps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Thu thập tri thức — Từ sách bài tập C/C++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3C5FD"/>
                </a:solidFill>
              </a:defRPr>
            </a:pPr>
            <a:r>
              <a:t>Phân loại bài tập theo chủ đề và ánh xạ với lỗi thường gặp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743200" cy="8229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Mảng một chiều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463040"/>
            <a:ext cx="4114800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55448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Tính tổng, Tìm max, Đảo ngược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463040"/>
            <a:ext cx="4114800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155448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bug.off_by_one</a:t>
            </a:r>
            <a:br/>
            <a:r>
              <a:t>bug.array_out_of_bounds</a:t>
            </a:r>
            <a:br/>
            <a:r>
              <a:t>bug.uninitialized_value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23160"/>
            <a:ext cx="2743200" cy="822960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146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Vòng lặp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423160"/>
            <a:ext cx="4114800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51460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Giai thừa, Số nguyên tố, Fibonacci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423160"/>
            <a:ext cx="4114800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51460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bug.off_by_one</a:t>
            </a:r>
            <a:br/>
            <a:r>
              <a:t>bug.wrong_loop_condition</a:t>
            </a:r>
            <a:br/>
            <a:r>
              <a:t>bug.infinite_loop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383280"/>
            <a:ext cx="2743200" cy="822960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4747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Đệ quy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3383280"/>
            <a:ext cx="4114800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347472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Giai thừa, Fibonacci, Tháp HN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3383280"/>
            <a:ext cx="4114800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347472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bug.no_recursive_progress</a:t>
            </a:r>
            <a:br/>
            <a:r>
              <a:t>bug.missing_return</a:t>
            </a:r>
            <a:br/>
            <a:r>
              <a:t>bug.off_by_one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343400"/>
            <a:ext cx="2743200" cy="822960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4348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Cấu trúc DL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4343400"/>
            <a:ext cx="4114800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0" y="443484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DS liên kết, Ngăn xếp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0" y="4343400"/>
            <a:ext cx="4114800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443484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bug.null_dereference</a:t>
            </a:r>
            <a:br/>
            <a:r>
              <a:t>bug.memory_leak</a:t>
            </a:r>
            <a:br/>
            <a:r>
              <a:t>bug.dangling_pointer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303520"/>
            <a:ext cx="2743200" cy="822960"/>
          </a:xfrm>
          <a:prstGeom prst="roundRect">
            <a:avLst/>
          </a:prstGeom>
          <a:solidFill>
            <a:srgbClr val="A85CE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3949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Sắp xếp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83280" y="5303520"/>
            <a:ext cx="4114800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539496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Bubble, Selection, Insertion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80960" y="5303520"/>
            <a:ext cx="4114800" cy="8229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0" y="539496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bug.off_by_one</a:t>
            </a:r>
            <a:br/>
            <a:r>
              <a:t>bug.array_out_of_bounds</a:t>
            </a:r>
            <a:br/>
            <a:r>
              <a:t>bug.wrong_loop_condition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3C5FD"/>
                </a:solidFill>
              </a:defRPr>
            </a:pPr>
            <a:r>
              <a:t>Chủ đề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64008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3C5FD"/>
                </a:solidFill>
              </a:defRPr>
            </a:pPr>
            <a:r>
              <a:t>Bài tập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64008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3C5FD"/>
                </a:solidFill>
              </a:defRPr>
            </a:pPr>
            <a:r>
              <a:t>Lỗi thường gặp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72033"/>
                </a:solidFill>
              </a:defRPr>
            </a:pPr>
            <a:r>
              <a:t>Công nghệ &amp; Kiến trúc hệ thống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566160" cy="13716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Ngôn ngữ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Python 3.12, C/C++ (C23/C++23)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188720"/>
            <a:ext cx="3566160" cy="13716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325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7830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FastAPI + Uvicorn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188720"/>
            <a:ext cx="3566160" cy="13716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325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7830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HTML5 / CSS3 / JavaScript (Vanilla)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34640"/>
            <a:ext cx="3566160" cy="1371600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971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Graph 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4290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Neo4j 2026 (Cypher query)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2834640"/>
            <a:ext cx="3566160" cy="1371600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2971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Static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4290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Clang AST, Clang Static Analyzer, Clang-Tidy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2834640"/>
            <a:ext cx="3566160" cy="1371600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2971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Dynamic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4290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AddressSanitizer, UBSan, LeakSanitizer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80560"/>
            <a:ext cx="3566160" cy="1371600"/>
          </a:xfrm>
          <a:prstGeom prst="roundRect">
            <a:avLst/>
          </a:prstGeom>
          <a:solidFill>
            <a:srgbClr val="A85CE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617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LLM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749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OpenAI / Azure OpenAI / OpenRouter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4480560"/>
            <a:ext cx="3566160" cy="137160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4617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Container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50749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Docker + Docker Compose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4480560"/>
            <a:ext cx="3566160" cy="1371600"/>
          </a:xfrm>
          <a:prstGeom prst="roundRect">
            <a:avLst/>
          </a:prstGeom>
          <a:solidFill>
            <a:srgbClr val="60708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4617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Code Hoster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50749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GitHub (github.com/XQuyTran/knowledge-model)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Kết quả đánh giá — Hybrid vs LLM-only (13 test cases)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7772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Chỉ số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Hybrid (Rule-based)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LLM-only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DDFF"/>
                          </a:solidFill>
                        </a:defRPr>
                      </a:pPr>
                      <a:r>
                        <a:t>Exact match</a:t>
                      </a:r>
                    </a:p>
                  </a:txBody>
                  <a:tcPr>
                    <a:solidFill>
                      <a:srgbClr val="1528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DDFF"/>
                          </a:solidFill>
                        </a:defRPr>
                      </a:pPr>
                      <a:r>
                        <a:t>7/13 (54%)</a:t>
                      </a:r>
                    </a:p>
                  </a:txBody>
                  <a:tcPr>
                    <a:solidFill>
                      <a:srgbClr val="1528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DDFF"/>
                          </a:solidFill>
                        </a:defRPr>
                      </a:pPr>
                      <a:r>
                        <a:t>— (cần API key)</a:t>
                      </a:r>
                    </a:p>
                  </a:txBody>
                  <a:tcPr>
                    <a:solidFill>
                      <a:srgbClr val="1528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DDFF"/>
                          </a:solidFill>
                        </a:defRPr>
                      </a:pPr>
                      <a:r>
                        <a:t>Acceptable*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DDFF"/>
                          </a:solidFill>
                        </a:defRPr>
                      </a:pPr>
                      <a:r>
                        <a:t>9/13 (69%)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DD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DDFF"/>
                          </a:solidFill>
                        </a:defRPr>
                      </a:pPr>
                      <a:r>
                        <a:t>Average time</a:t>
                      </a:r>
                    </a:p>
                  </a:txBody>
                  <a:tcPr>
                    <a:solidFill>
                      <a:srgbClr val="1528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DDFF"/>
                          </a:solidFill>
                        </a:defRPr>
                      </a:pPr>
                      <a:r>
                        <a:t>2.84s</a:t>
                      </a:r>
                    </a:p>
                  </a:txBody>
                  <a:tcPr>
                    <a:solidFill>
                      <a:srgbClr val="1528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DD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528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DDFF"/>
                          </a:solidFill>
                        </a:defRPr>
                      </a:pPr>
                      <a:r>
                        <a:t>Offline capable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DD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DD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3108960"/>
          <a:ext cx="7772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/>
                <a:gridCol w="1943100"/>
                <a:gridCol w="1943100"/>
                <a:gridCol w="1943100"/>
              </a:tblGrid>
              <a:tr h="20900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Case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Expected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Detected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off_by_one_01</a:t>
                      </a:r>
                    </a:p>
                  </a:txBody>
                  <a:tcPr>
                    <a:solidFill>
                      <a:srgbClr val="1528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bug.off_by_one</a:t>
                      </a:r>
                    </a:p>
                  </a:txBody>
                  <a:tcPr>
                    <a:solidFill>
                      <a:srgbClr val="1528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bug.array_out_of_bounds</a:t>
                      </a:r>
                    </a:p>
                  </a:txBody>
                  <a:tcPr>
                    <a:solidFill>
                      <a:srgbClr val="1528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~ same class</a:t>
                      </a:r>
                    </a:p>
                  </a:txBody>
                  <a:tcPr>
                    <a:solidFill>
                      <a:srgbClr val="152840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off_by_one_02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bug.off_by_one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bug.array_out_of_bounds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~ same class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null_deref_01</a:t>
                      </a:r>
                    </a:p>
                  </a:txBody>
                  <a:tcPr>
                    <a:solidFill>
                      <a:srgbClr val="1528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bug.null_dereference</a:t>
                      </a:r>
                    </a:p>
                  </a:txBody>
                  <a:tcPr>
                    <a:solidFill>
                      <a:srgbClr val="1528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bug.null_dereference</a:t>
                      </a:r>
                    </a:p>
                  </a:txBody>
                  <a:tcPr>
                    <a:solidFill>
                      <a:srgbClr val="1528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52840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memory_leak_01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bug.memory_leak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bug.memory_leak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missing_return_01</a:t>
                      </a:r>
                    </a:p>
                  </a:txBody>
                  <a:tcPr>
                    <a:solidFill>
                      <a:srgbClr val="1528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bug.missing_return</a:t>
                      </a:r>
                    </a:p>
                  </a:txBody>
                  <a:tcPr>
                    <a:solidFill>
                      <a:srgbClr val="1528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bug.missing_return</a:t>
                      </a:r>
                    </a:p>
                  </a:txBody>
                  <a:tcPr>
                    <a:solidFill>
                      <a:srgbClr val="1528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52840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array_oob_01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bug.array_out_of_bounds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bug.array_out_of_bounds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infinite_loop_01</a:t>
                      </a:r>
                    </a:p>
                  </a:txBody>
                  <a:tcPr>
                    <a:solidFill>
                      <a:srgbClr val="1528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bug.wrong_loop_condition</a:t>
                      </a:r>
                    </a:p>
                  </a:txBody>
                  <a:tcPr>
                    <a:solidFill>
                      <a:srgbClr val="1528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bug.wrong_loop_condition</a:t>
                      </a:r>
                    </a:p>
                  </a:txBody>
                  <a:tcPr>
                    <a:solidFill>
                      <a:srgbClr val="1528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52840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use_after_free_01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bug.use_after_free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bug.use_after_free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recursion_no_progress_01</a:t>
                      </a:r>
                    </a:p>
                  </a:txBody>
                  <a:tcPr>
                    <a:solidFill>
                      <a:srgbClr val="1528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bug.no_recursive_progress</a:t>
                      </a:r>
                    </a:p>
                  </a:txBody>
                  <a:tcPr>
                    <a:solidFill>
                      <a:srgbClr val="1528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bug.null_dereference</a:t>
                      </a:r>
                    </a:p>
                  </a:txBody>
                  <a:tcPr>
                    <a:solidFill>
                      <a:srgbClr val="1528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152840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correct_sum_01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bubble_sort_oob_01</a:t>
                      </a:r>
                    </a:p>
                  </a:txBody>
                  <a:tcPr>
                    <a:solidFill>
                      <a:srgbClr val="1528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bug.off_by_one</a:t>
                      </a:r>
                    </a:p>
                  </a:txBody>
                  <a:tcPr>
                    <a:solidFill>
                      <a:srgbClr val="1528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1528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152840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binary_search_wrong_01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bug.wrong_loop_condition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0901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factorial_rec_missing_return_01</a:t>
                      </a:r>
                    </a:p>
                  </a:txBody>
                  <a:tcPr>
                    <a:solidFill>
                      <a:srgbClr val="1528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bug.missing_return</a:t>
                      </a:r>
                    </a:p>
                  </a:txBody>
                  <a:tcPr>
                    <a:solidFill>
                      <a:srgbClr val="1528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bug.array_out_of_bounds</a:t>
                      </a:r>
                    </a:p>
                  </a:txBody>
                  <a:tcPr>
                    <a:solidFill>
                      <a:srgbClr val="1528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CDD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1528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Demo hệ thống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3C5FD"/>
                </a:solidFill>
              </a:defRPr>
            </a:pPr>
            <a:r>
              <a:t>Code Diagnostic Assistant — Giao diện Web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5669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t>Input — Chọn bài + Nhập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0708A"/>
                </a:solidFill>
              </a:defRPr>
            </a:pPr>
            <a:r>
              <a:t>Chọn bài từ CSDL: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5120640" cy="3200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72033"/>
                </a:solidFill>
              </a:defRPr>
            </a:pPr>
            <a:r>
              <a:t>[Dropdown] Tính tổng mảng | Tìm max | Đảo ngược | Bubble Sort...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0708A"/>
                </a:solidFill>
              </a:defRPr>
            </a:pPr>
            <a:r>
              <a:t>Đề bài: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51760"/>
            <a:ext cx="5120640" cy="5029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974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72033"/>
                </a:solidFill>
              </a:defRPr>
            </a:pPr>
            <a:r>
              <a:t>Cho mảng số nguyên a gồm n phần tử.</a:t>
            </a:r>
            <a:br/>
            <a:r>
              <a:t>Tính tổng tất cả các phần tử.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4612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0708A"/>
                </a:solidFill>
              </a:defRPr>
            </a:pPr>
            <a:r>
              <a:t>Mã nguồn C++: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74720"/>
            <a:ext cx="5120640" cy="18288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56616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</a:defRPr>
            </a:pPr>
            <a:r>
              <a:t>#include &lt;iostream&gt;</a:t>
            </a:r>
            <a:br/>
            <a:r>
              <a:t>int main() {</a:t>
            </a:r>
            <a:br/>
            <a:r>
              <a:t>    int n = 5;</a:t>
            </a:r>
            <a:br/>
            <a:r>
              <a:t>    int a[5] = {1, 2, 3, 4, 5};</a:t>
            </a:r>
            <a:br/>
            <a:r>
              <a:t>    int sum = 0;</a:t>
            </a:r>
            <a:br/>
            <a:r>
              <a:t>    for (int i = 0; i &lt;= n; ++i)</a:t>
            </a:r>
            <a:br/>
            <a:r>
              <a:t>        sum += a[i];</a:t>
            </a:r>
            <a:br/>
            <a:r>
              <a:t>    std::cout &lt;&lt; sum;</a:t>
            </a:r>
            <a:br/>
            <a:r>
              <a:t>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440680"/>
            <a:ext cx="201168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5138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🔍 Chẩn đoán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371600"/>
            <a:ext cx="55778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4630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2033"/>
                </a:solidFill>
              </a:defRPr>
            </a:pPr>
            <a:r>
              <a:t>Kết quả chẩn đoán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828800"/>
            <a:ext cx="5212080" cy="59436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874519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2033"/>
                </a:solidFill>
              </a:defRPr>
            </a:pPr>
            <a:r>
              <a:t>Bug: bug.array_out_of_bounds</a:t>
            </a:r>
            <a:br/>
            <a:r>
              <a:t>Confidence: 91.5% | Trạng thái: ⚠ Phát hiện lỗi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56032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0708A"/>
                </a:solidFill>
              </a:defRPr>
            </a:pPr>
            <a:r>
              <a:t>Bài toán phù hợp từ CSDL: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834640"/>
            <a:ext cx="5212080" cy="54864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880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72033"/>
                </a:solidFill>
              </a:defRPr>
            </a:pPr>
            <a:r>
              <a:t>Tính tổng mảng | Mảng | Duyệt tuần tự</a:t>
            </a:r>
            <a:br/>
            <a:r>
              <a:t>Sách Bài tập C cơ bản - Chương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47472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0708A"/>
                </a:solidFill>
              </a:defRPr>
            </a:pPr>
            <a:r>
              <a:t>Feedback: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749039"/>
            <a:ext cx="5212080" cy="5943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37947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</a:defRPr>
            </a:pPr>
            <a:r>
              <a:t>Loop condition uses &lt;= which may access</a:t>
            </a:r>
            <a:br/>
            <a:r>
              <a:t>beyond array bounds. Locate index →</a:t>
            </a:r>
            <a:br/>
            <a:r>
              <a:t>constrain to valid range → rerun test.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43484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0708A"/>
                </a:solidFill>
              </a:defRPr>
            </a:pPr>
            <a:r>
              <a:t>Repair Plan (3 steps):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983479"/>
            <a:ext cx="5212080" cy="2743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5001768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72033"/>
                </a:solidFill>
              </a:defRPr>
            </a:pPr>
            <a:r>
              <a:t>  1. Locate index expression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5303520"/>
            <a:ext cx="5212080" cy="2743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5321808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72033"/>
                </a:solidFill>
              </a:defRPr>
            </a:pPr>
            <a:r>
              <a:t>  2. Constrain to valid range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5623559"/>
            <a:ext cx="5212080" cy="2743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5641848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72033"/>
                </a:solidFill>
              </a:defRPr>
            </a:pPr>
            <a:r>
              <a:t>  3. Rerun boundary test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72033"/>
                </a:solidFill>
              </a:defRPr>
            </a:pPr>
            <a:r>
              <a:t>Hướng dẫn chạy &amp; Cài đặt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1645920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Cách 1: Docker (recommended)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10698480" cy="100584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cp .env.example .env &amp;&amp; cp .env.llm.example .env.llm</a:t>
            </a:r>
            <a:br/>
            <a:r>
              <a:t># Sửa .env.llm với API key (nếu có)</a:t>
            </a:r>
            <a:br/>
            <a:r>
              <a:t>docker compose up -d neo4j app</a:t>
            </a:r>
            <a:br/>
            <a:r>
              <a:t>docker compose --profile seed run neo4j-seed</a:t>
            </a:r>
            <a:br/>
            <a:r>
              <a:t># Mở http://localhost:8000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17520"/>
            <a:ext cx="11247120" cy="16459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Cách 2: Local (development)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20439"/>
            <a:ext cx="10698480" cy="100584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11879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pip install -r requirements.txt</a:t>
            </a:r>
            <a:br/>
            <a:r>
              <a:t>export USE_NEO4J=false</a:t>
            </a:r>
            <a:br/>
            <a:r>
              <a:t>uvicorn diagnostic_pipeline.api.main:app --host 0.0.0.0 --port 8000</a:t>
            </a:r>
            <a:br/>
            <a:r>
              <a:t># Mở http://localhost:8000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846320"/>
            <a:ext cx="11247120" cy="1645920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937759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Cách 3: Chạy evaluation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49240"/>
            <a:ext cx="10698480" cy="1005840"/>
          </a:xfrm>
          <a:prstGeom prst="roundRect">
            <a:avLst/>
          </a:prstGeom>
          <a:solidFill>
            <a:srgbClr val="0F2B4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4406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cd evaluation &amp;&amp; python run_evaluation.py</a:t>
            </a:r>
            <a:br/>
            <a:r>
              <a:t># Kết quả: evaluation/results/evaluation_report.md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0708A"/>
                </a:solidFill>
              </a:defRPr>
            </a:pPr>
            <a:r>
              <a:t>Repository: https://github.com/XQuyTran/knowledge-model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72033"/>
                </a:solidFill>
              </a:defRPr>
            </a:pPr>
            <a:r>
              <a:t>Đóng góp &amp; Kết luận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3840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435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72033"/>
                </a:solidFill>
              </a:defRPr>
            </a:pPr>
            <a:r>
              <a:t>🔹 Thành viên 1 — Concept Ontology + Problem entity (C/C++ knowledge, bài toán, thuật toán)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1247120" cy="3840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007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72033"/>
                </a:solidFill>
              </a:defRPr>
            </a:pPr>
            <a:r>
              <a:t>🔹 Thành viên 2 — Bug Ontology + Repair (lỗi, symptom, cách sửa, repair plan)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03120"/>
            <a:ext cx="11247120" cy="3840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579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72033"/>
                </a:solidFill>
              </a:defRPr>
            </a:pPr>
            <a:r>
              <a:t>🔹 Thành viên 3 — Diagnostic Rules + Pipeline core (rule matching, ranking)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560320"/>
            <a:ext cx="11247120" cy="3840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15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72033"/>
                </a:solidFill>
              </a:defRPr>
            </a:pPr>
            <a:r>
              <a:t>🔹 Thành viên 4 — Explanation Ontology + API + Frontend (feedback, UI, exercise KB)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017520"/>
            <a:ext cx="11247120" cy="3840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723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72033"/>
                </a:solidFill>
              </a:defRPr>
            </a:pPr>
            <a:r>
              <a:t>🔹 Thành viên 5 — Evaluation + Báo cáo (benchmark, so sánh LLM, PPTX)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57600"/>
            <a:ext cx="112471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A34A"/>
                </a:solidFill>
              </a:defRPr>
            </a:pPr>
            <a:r>
              <a:t>Đã hoàn thành: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43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72033"/>
                </a:solidFill>
              </a:defRPr>
            </a:pPr>
            <a:r>
              <a:t>  ✓ 4 tầng Ontology + Problem entity (MỚI)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451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72033"/>
                </a:solidFill>
              </a:defRPr>
            </a:pPr>
            <a:r>
              <a:t>  ✓ CSDL tri thức 16 bài tập từ sách C/C++ (MỚI)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469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72033"/>
                </a:solidFill>
              </a:defRPr>
            </a:pPr>
            <a:r>
              <a:t>  ✓ Diagnostic Pipeline (static + dynamic analysis)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24865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72033"/>
                </a:solidFill>
              </a:defRPr>
            </a:pPr>
            <a:r>
              <a:t>  ✓ Rule-Based Reasoning + Bug Ranking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5504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72033"/>
                </a:solidFill>
              </a:defRPr>
            </a:pPr>
            <a:r>
              <a:t>  ✓ Frontend web + Exercise browser (MỚI)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852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72033"/>
                </a:solidFill>
              </a:defRPr>
            </a:pPr>
            <a:r>
              <a:t>  ✓ Module đánh giá (Hybrid vs LLM-only)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1539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72033"/>
                </a:solidFill>
              </a:defRPr>
            </a:pPr>
            <a:r>
              <a:t>  ✓ PPTX ánh xạ 7 bài giảng BDTT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t>Hướng phát triển: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343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708A"/>
                </a:solidFill>
              </a:defRPr>
            </a:pPr>
            <a:r>
              <a:t>  → Mở rộng Bug Ontology (race condition, deadlock...)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6451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708A"/>
                </a:solidFill>
              </a:defRPr>
            </a:pPr>
            <a:r>
              <a:t>  → Thêm benchmark cases từ sách bài tập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9469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708A"/>
                </a:solidFill>
              </a:defRPr>
            </a:pPr>
            <a:r>
              <a:t>  → Cải thiện LLM prompts cho feedback tốt hơn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24865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708A"/>
                </a:solidFill>
              </a:defRPr>
            </a:pPr>
            <a:r>
              <a:t>  → CI/CD pipeline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5504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708A"/>
                </a:solidFill>
              </a:defRPr>
            </a:pPr>
            <a:r>
              <a:t>  → Triển khai production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Cảm ơn thầy và các bạn!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93C5FD"/>
                </a:solidFill>
              </a:defRPr>
            </a:pPr>
            <a:r>
              <a:t>Q&amp;A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657600"/>
            <a:ext cx="21031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503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FFFFFF"/>
                </a:solidFill>
              </a:defRPr>
            </a:pPr>
            <a:r>
              <a:t>Đại học Công nghệ Thông tin — ĐHQG-HCM</a:t>
            </a:r>
          </a:p>
          <a:p>
            <a:pPr>
              <a:spcAft>
                <a:spcPts val="300"/>
              </a:spcAft>
              <a:defRPr sz="1800" b="0">
                <a:solidFill>
                  <a:srgbClr val="FFFFFF"/>
                </a:solidFill>
              </a:defRPr>
            </a:pPr>
            <a:r>
              <a:t>Khoa Khoa học Máy tính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