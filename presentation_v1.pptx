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TIÊU ĐỀ (TITLE SLIDE)</a:t>
            </a:r>
          </a:p>
          <a:p/>
          <a:p>
            <a:r>
              <a:t>[Giới thiệu] Slide mở đầu trình bày tên đề tài "Hệ thống hỗ trợ giải bài tập lập trình có hướng dẫn từng bước". </a:t>
            </a:r>
          </a:p>
          <a:p>
            <a:r>
              <a:t>Đây là Project 1 thuộc môn Cấu trúc dữ liệu &amp; Thuật toán nâng cao.</a:t>
            </a:r>
          </a:p>
          <a:p/>
          <a:p>
            <a:r>
              <a:t>[English keywords] "Programming Exercise Solving System", "Step-by-Step Guidance", "Context-Aware Explanations", "Diagnostic Rule-Based Reasoning"</a:t>
            </a:r>
          </a:p>
          <a:p/>
          <a:p>
            <a:r>
              <a:t>[Nội dung trình bày] Giới thiệu tổng quan về đề tài: hệ thống kết hợp LLMs (Code Llama/GPT-4) và Rule-Based Reasoning để chẩn đoán lỗi logic &amp; thuật toán trong mã nguồn sinh viên, sau đó tạo lời giải từng bước có giải thích ngữ cảnh.</a:t>
            </a:r>
          </a:p>
          <a:p/>
          <a:p>
            <a:r>
              <a:t>[Speaker notes] Chào cả lớp. Hôm nay nhóm em xin trình bày về đề tài Project 1: Hệ thống hỗ trợ giải bài tập lập trình có hướng dẫn từng bước. Đây là hệ thống thông minh giúp sinh viên học lập trình hiệu quả hơn thông qua việc tự động chẩn đoán lỗi và đưa ra hướng dẫn chi tiết.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AGENDA (NỘI DUNG TRÌNH BÀY)</a:t>
            </a:r>
          </a:p>
          <a:p/>
          <a:p>
            <a:r>
              <a:t>[Giới thiệu] Danh sách các nội dung sẽ trình bày trong buổi báo cáo, bao gồm 10 phần chính từ mục tiêu đến kết luận.</a:t>
            </a:r>
          </a:p>
          <a:p/>
          <a:p>
            <a:r>
              <a:t>[English keywords] "System Objectives", "Knowledge Acquisition", "Exercise Classification", "Knowledge Representation Model", "System Architecture", "Core Techniques", "Product Requirements", "Evaluation"</a:t>
            </a:r>
          </a:p>
          <a:p/>
          <a:p>
            <a:r>
              <a:t>[Speaker notes] Trước tiên, em xin giới thiệu tổng quan các nội dung sẽ trình bày. Bài báo cáo gồm 10 phần: bắt đầu từ mục tiêu của hệ thống, quy trình thu thập tri thức, cách phân loại bài tập, mô hình biểu diễn tri thức, kiến trúc hệ thống, các bài toán và thuật giải, kỹ thuật chính, yêu cầu sản phẩm, so sánh đánh giá, và cuối cùng là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MỤC TIÊU HỆ THỐNG</a:t>
            </a:r>
          </a:p>
          <a:p/>
          <a:p>
            <a:r>
              <a:t>[Giải thích] Trình bày mục tiêu tổng quát và các mục tiêu cụ thể của hệ thống.</a:t>
            </a:r>
          </a:p>
          <a:p/>
          <a:p>
            <a:r>
              <a:t>[English keywords] "Detection &amp; Diagnosis", "Logic errors", "Algorithm errors", "Boundary errors", "Step-by-Step Solution Generation", "Context-Aware Explanations", "Error Knowledge Model", "Diagnostic Rules"</a:t>
            </a:r>
          </a:p>
          <a:p/>
          <a:p>
            <a:r>
              <a:t>[Chi tiết] Hệ thống nhằm giải quyết vấn đề sinh viên thường gặp khó khăn khi tự học lập trình. Các lỗi phổ biến bao gồm lỗi logic (sai điều kiện, sai công thức), lỗi thuật toán (chọn sai giải thuật, vòng lặp vô hạn), và lỗi biên (off-by-one, truy cập mảng ngoài phạm vi). Hệ thống không chỉ phát hiện lỗi mà còn đưa ra hướng dẫn từng bước với giải thích phù hợp ngữ cảnh.</a:t>
            </a:r>
          </a:p>
          <a:p/>
          <a:p>
            <a:r>
              <a:t>[Speaker notes] Phần đầu tiên, em xin trình bày về mục tiêu của hệ thống. Mục tiêu tổng quát là phát triển một hệ thống có khả năng chẩn đoán lỗi logic và thuật toán trong mã nguồn sinh viên viết bằng C/C++. Cụ thể, hệ thống sẽ phát hiện chính xác vị trí và loại lỗi, bao gồm lỗi logic, lỗi thuật toán và lỗi biên. Sau đó, hệ thống sinh ra lời giải từng bước kèm giải thích ngữ cảnh dựa trên mô hình tri thức lỗi. Điểm đặc biệt là chúng em kết hợp cả LLMs như Code Llama và GPT-4 với hệ thống suy luận dựa trên luật để đạt độ chính xác cao.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THU THẬP TRI THỨC</a:t>
            </a:r>
          </a:p>
          <a:p/>
          <a:p>
            <a:r>
              <a:t>[Giải thích] Trình bày các nguồn tri thức và quy trình thu thập, xử lý dữ liệu để xây dựng hệ thống.</a:t>
            </a:r>
          </a:p>
          <a:p/>
          <a:p>
            <a:r>
              <a:t>[English keywords] "Knowledge Sources", "Student submission corpora", "Feature extraction", "Error labeling", "Diagnostic Rules", "Static code analysis", "AST parsing", "Dynamic testing"</a:t>
            </a:r>
          </a:p>
          <a:p/>
          <a:p>
            <a:r>
              <a:t>[Chi tiết] Nguồn tri thức bao gồm sách bài tập C/C++ như "C Programming: A Modern Approach" của KN King, "The C Programming Language" của K&amp;R, sách thuật toán CLRS, và bộ dữ liệu bài tập của sinh viên. Quy trình thu thập gồm 4 bước: (1) thu thập đề bài và bài giải mẫu, (2) trích xuất đặc trưng của mã nguồn, (3) gán nhãn các lỗi thường gặp, (4) xây dựng tập luật chẩn đoán. Công cụ hỗ trợ: phân tích mã nguồn tĩnh qua AST parsing và kiểm thử động.</a:t>
            </a:r>
          </a:p>
          <a:p/>
          <a:p>
            <a:r>
              <a:t>[Speaker notes] Tiếp theo, em xin trình bày về quy trình thu thập tri thức. Chúng em sử dụng các nguồn tài liệu uy tín như sách lập trình C của K&amp;R, sách thuật toán CLRS, cùng với bộ dữ liệu bài tập từ sinh viên. Quy trình gồm 4 bước từ thu thập đến xây dựng luật chẩn đoán. Đặc biệt, chúng em sử dụng kỹ thuật phân tích mã nguồn tĩnh thông qua AST parsing kết hợp với kiểm thử động để phát hiện lỗi runtime.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PHÂN LOẠI BÀI TẬP</a:t>
            </a:r>
          </a:p>
          <a:p/>
          <a:p>
            <a:r>
              <a:t>[Giải thích] Trình bày cách phân loại bài tập lập trình thành các chủ đề chính để xây dựng cơ sở tri thức.</a:t>
            </a:r>
          </a:p>
          <a:p/>
          <a:p>
            <a:r>
              <a:t>[English keywords] "Arrays", "Loops", "Recursion", "Data Structures", "Sorting &amp; Searching", "Divide and Conquer", "Backtracking"</a:t>
            </a:r>
          </a:p>
          <a:p/>
          <a:p>
            <a:r>
              <a:t>[Chi tiết] Bài tập được phân thành 5 nhóm chính: Mảng (một chiều và đa chiều, các thao tác tìm kiếm sắp xếp), Vòng lặp (các dạng loop, pattern printing), Đệ quy (chia để trị, backtracking), Cấu trúc dữ liệu (ngăn xếp, hàng đợi, danh sách liên kết, cây, đồ thị), và Thuật toán sắp xếp &amp; tìm kiếm (các thuật toán cổ điển). Việc phân loại này giúp hệ thống dễ dàng tra cứu và áp dụng luật chẩn đoán phù hợp.</a:t>
            </a:r>
          </a:p>
          <a:p/>
          <a:p>
            <a:r>
              <a:t>[Speaker notes] Về phân loại bài tập, chúng em chia thành 5 nhóm chính. Đầu tiên là mảng - một chiều và đa chiều. Thứ hai là vòng lặp với các cấu trúc for, while, do-while. Thứ ba là đệ quy bao gồm chia để trị và backtracking. Thứ tư là cấu trúc dữ liệu như stack, queue, linked list, tree, graph. Cuối cùng là các thuật toán sắp xếp và tìm kiếm kinh điển.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MÔ HÌNH BIỂU DIỄN TRI THỨC</a:t>
            </a:r>
          </a:p>
          <a:p/>
          <a:p>
            <a:r>
              <a:t>[Giải thích] Trình bày mô hình biểu diễn tri thức và cơ chế hoạt động của hệ thống.</a:t>
            </a:r>
          </a:p>
          <a:p/>
          <a:p>
            <a:r>
              <a:t>[English keywords] "Knowledge Representation Model", "Pattern Matching", "Abstract Syntax Tree (AST)", "Diagnostic Rule Triggering", "Context-Aware", "Processing Pipeline"</a:t>
            </a:r>
          </a:p>
          <a:p/>
          <a:p>
            <a:r>
              <a:t>[Chi tiết] Mô hình tri thức thể hiện mối quan hệ 5 thành phần: Bài toán - Thuật toán - Cấu trúc dữ liệu - Lỗi thường gặp - Hướng khắc phục. Pipeline xử lý gồm 5 bước: nhận code đầu vào, phân tích AST, pattern matching, kích hoạt luật chẩn đoán, và sinh giải thích. Ví dụ cụ thể với bài toán tính tổng mảng: nếu phát hiện vòng lặp while thiếu cập nhật biến đếm, hệ thống sẽ kích hoạt rule "Loop counter not updated" và đưa ra hướng dẫn thêm i++.</a:t>
            </a:r>
          </a:p>
          <a:p/>
          <a:p>
            <a:r>
              <a:t>[Speaker notes] Đây là phần cốt lõi của hệ thống. Chúng em xây dựng mô hình tri thức với 5 thành phần liên kết chặt chẽ. Quy trình xử lý bắt đầu từ việc nhận mã nguồn, phân tích cú pháp thành AST, pattern matching phát hiện cấu trúc, kích hoạt luật chẩn đoán, và cuối cùng sinh ra giải thích từng bước. Em có một ví dụ cụ thể: với bài toán tính tổng mảng, nếu sinh viên dùng while loop mà quên tăng i, hệ thống sẽ phát hiện và hướng dẫn thêm câu lệnh 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KIẾN TRÚC HỆ THỐNG</a:t>
            </a:r>
          </a:p>
          <a:p/>
          <a:p>
            <a:r>
              <a:t>[Giải thích] Trình bày kiến trúc tổng thể của hệ thống với 4 tầng và công nghệ sử dụng.</a:t>
            </a:r>
          </a:p>
          <a:p/>
          <a:p>
            <a:r>
              <a:t>[English keywords] "System Architecture", "User Interface Layer", "Processing Layer", "Knowledge Layer", "Data Layer", "Tech Stack", "Code Parser", "Rule Engine", "LLM Connector", "Vector DB"</a:t>
            </a:r>
          </a:p>
          <a:p/>
          <a:p>
            <a:r>
              <a:t>[Chi tiết] Kiến trúc gồm 4 tầng: (1) User Interface Layer - giao diện web với code editor, (2) Processing Layer - xử lý code, pattern matching, rule engine kết nối LLM, (3) Knowledge Layer - cơ sở tri thức bài tập, lỗi, luật chẩn đoán, (4) Data Layer - lưu trữ. Công nghệ: React frontend, FastAPI backend, GPT-4/Code Llama, PostgreSQL và vector database, Tree-sitter cho C/C++ parsing.</a:t>
            </a:r>
          </a:p>
          <a:p/>
          <a:p>
            <a:r>
              <a:t>[Speaker notes] Về kiến trúc hệ thống, chúng em thiết kế theo mô hình 4 tầng. Tầng giao diện người dùng là web app với code editor. Tầng xử lý là nơi phân tích code, pattern matching, kết nối LLM. Tầng tri thức lưu trữ cơ sở bài tập, lỗi và luật. Tầng dữ liệu quản lý lưu trữ. Về công nghệ, chúng em dùng React cho frontend, FastAPI cho backend, GPT-4 và Code Llama cho AI, PostgreSQL và vector database cho lưu trữ, và Tree-sitter để phân tích cú pháp C/C++.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BÀI TOÁN &amp; THUẬT GIẢI</a:t>
            </a:r>
          </a:p>
          <a:p/>
          <a:p>
            <a:r>
              <a:t>[Giải thích] Trình bày ma trận bài toán - thuật giải với các ví dụ cụ thể và lỗi thường gặp.</a:t>
            </a:r>
          </a:p>
          <a:p/>
          <a:p>
            <a:r>
              <a:t>[English keywords] "Problem-Algorithm Matrix", "Approach", "Common Errors", "Recommendation Engine", "Linear Scan", "Two-pointer", "Binary Search", "Tree Traversal"</a:t>
            </a:r>
          </a:p>
          <a:p/>
          <a:p>
            <a:r>
              <a:t>[Chi tiết] Trình bày 5 bài toán điển hình: tìm min/max trong mảng, kiểm tra palindrome, đảo ngược linked list, binary search, duyệt cây. Mỗi bài toán được phân tích approach giải quyết và lỗi thường gặp. Hệ thống sử dụng Recommendation Engine để gợi ý thuật toán phù hợp dựa trên phân tích đề bài kết hợp rule-based và ML classification.</a:t>
            </a:r>
          </a:p>
          <a:p/>
          <a:p>
            <a:r>
              <a:t>[Speaker notes] Phần này trình bày các bài toán điển hình và thuật giải tương ứng. Chúng em xây dựng ma trận với 5 bài toán mẫu, mỗi bài toán phân tích approach và lỗi thường gặp. Đặc biệt, hệ thống có cơ chế gợi ý thuật toán dựa trên phân tích đề bài, giúp sinh viên biết nên dùng thuật toán nào cho từng dạng bài.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KỸ THUẬT CHÍNH</a:t>
            </a:r>
          </a:p>
          <a:p/>
          <a:p>
            <a:r>
              <a:t>[Giải thích] Trình bày 2 kỹ thuật chính: LLMs (Code Llama, GPT-4) và Rule-Based Reasoning, cùng cơ chế hybrid kết hợp.</a:t>
            </a:r>
          </a:p>
          <a:p/>
          <a:p>
            <a:r>
              <a:t>[English keywords] "Large Language Models", "Code Llama", "GPT-4", "LangChain", "CodeBERT", "Rule-Based Reasoning", "Diagnostic Rules", "Pattern Matching", "Finite State Machine", "Hybrid mechanism"</a:t>
            </a:r>
          </a:p>
          <a:p/>
          <a:p>
            <a:r>
              <a:t>[Chi tiết] Kỹ thuật 1 sử dụng LLMs: Code Llama của Meta (mã nguồn mở, chuyên code C/C++), GPT-4 của OpenAI (hiểu ngữ nghĩa sâu), LangChain framework, CodeBERT cho semantic search. Kỹ thuật 2 là Rule-Based Reasoning với IF-THEN rules, pattern matching trên AST, FSM theo dõi trạng thái. Cơ chế hybrid kết hợp: Rule Engine chẩn đoán chính xác, LLM sinh giải thích tự nhiên. Ví dụ rule: nếu phát hiện while loop không cập nhật biến đếm → báo lỗi INFINITE_LOOP và gợi ý thêm câu lệnh cập nhật.</a:t>
            </a:r>
          </a:p>
          <a:p/>
          <a:p>
            <a:r>
              <a:t>[Speaker notes] Đây là phần quan trọng nhất. Kỹ thuật thứ nhất là sử dụng LLMs: Code Llama của Meta - một mô hình mã nguồn mở chuyên biệt cho code, và GPT-4 của OpenAI. Chúng em dùng LangChain để orchestrate các LLM và CodeBERT cho semantic search. Kỹ thuật thứ hai là suy luận dựa trên luật. Chúng em xây dựng các IF-THEN rules kết hợp với pattern matching trên AST và FSM. Điểm mạnh là cơ chế hybrid: Rule Engine chẩn đoán lỗi chính xác, sau đó LLM sinh giải thích tự nhiên. Ví dụ, rule phát hiện vòng lặp while không cập nhật biến sẽ kích hoạt cảnh báo INFINITE_LOOP.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YÊU CẦU SẢN PHẨM</a:t>
            </a:r>
          </a:p>
          <a:p/>
          <a:p>
            <a:r>
              <a:t>[Giải thích] Trình bày các yêu cầu sản phẩm gồm giao diện, CSDL, mô hình lỗi và đánh giá.</a:t>
            </a:r>
          </a:p>
          <a:p/>
          <a:p>
            <a:r>
              <a:t>[English keywords] "Interactive UI", "Code Editor", "Step-by-step Solution", "Error Highlighting", "Exercise Knowledge Database", "Error Representation Model", "Comparative Evaluation", "Metrics", "Baseline"</a:t>
            </a:r>
          </a:p>
          <a:p/>
          <a:p>
            <a:r>
              <a:t>[Chi tiết] 4 yêu cầu chính: (1) Giao diện tương tác với code editor, step-by-step solution panel, error highlighting, real-time feedback; (2) CSDL tri thức bài tập với tìm kiếm theo chủ đề, độ khó; (3) Mô hình biểu diễn lỗi chuẩn hóa gồm error_type, location, description, fix_suggestion; (4) So sánh hiệu quả với pure LLM baseline dùng các metrics Accuracy, Precision, Recall, F1-Score và user study.</a:t>
            </a:r>
          </a:p>
          <a:p/>
          <a:p>
            <a:r>
              <a:t>[Speaker notes] Về yêu cầu sản phẩm, chúng em có 4 nhóm chính. Thứ nhất là giao diện tương tác với code editor và panel hiển thị lời giải từng bước. Thứ hai là cơ sở dữ liệu tri thức bài tập có khả năng tìm kiếm. Thứ ba là mô hình biểu diễn lỗi chuẩn hóa. Thứ tư là đánh giá hiệu quả, so sánh với pure LLM baseline dùng các metrics như Accuracy, Precision, Recall, F1-Score và khảo sát người dùng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SO SÁNH &amp; ĐÁNH GIÁ</a:t>
            </a:r>
          </a:p>
          <a:p/>
          <a:p>
            <a:r>
              <a:t>[Giải thích] Trình bày phương pháp đánh giá, metrics, kịch bản so sánh và kết quả dự kiến.</a:t>
            </a:r>
          </a:p>
          <a:p/>
          <a:p>
            <a:r>
              <a:t>[English keywords] "Evaluation Methodology", "Metrics", "Accuracy", "Precision", "Recall", "F1-Score", "User Satisfaction", "Comparison Scenarios", "Hybrid approach", "Key Findings"</a:t>
            </a:r>
          </a:p>
          <a:p/>
          <a:p>
            <a:r>
              <a:t>[Chi tiết] Đánh giá trên 200+ bài tập C/C++ của sinh viên. So sánh 5 phương pháp: Pure LLM (GPT-4), Pure Rule-Based, Hybrid (Rules → LLM), Hybrid + Context-Aware. Kết quả dự kiến cho thấy Hybrid + Context-Aware đạt Accuracy 93.2%, F1 0.91, User Satisfaction 4.6/5. Nhận xét: Hybrid approach vượt trội, Context-Aware cải thiện trải nghiệm người dùng.</a:t>
            </a:r>
          </a:p>
          <a:p/>
          <a:p>
            <a:r>
              <a:t>[Speaker notes] Phần so sánh và đánh giá. Chúng em xây dựng kịch bản thử nghiệm trên 200 bài tập C/C++. So sánh 4 phương pháp: pure LLM, pure Rule-Based, Hybrid không context-aware, và Hybrid có context-aware. Kết quả cho thấy phương pháp Hybrid kết hợp Rule Engine và LLM cho kết quả tốt nhất. Đặc biệt, Context-Aware Explanations cải thiện đáng kể độ hài lòng người dùng. Rule Engine đảm bảo độ chính xác, LLM tăng tính tự nhiên của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KẾT LUẬN &amp; HƯỚNG PHÁT TRIỂN</a:t>
            </a:r>
          </a:p>
          <a:p/>
          <a:p>
            <a:r>
              <a:t>[Giải thích] Tổng kết các kết quả đạt được và đề xuất hướng phát triển tương lai.</a:t>
            </a:r>
          </a:p>
          <a:p/>
          <a:p>
            <a:r>
              <a:t>[English keywords] "Conclusion", "Future Work", "LLMs", "Rule-Based Reasoning", "Hybrid approach", "Personalized learning", "Reinforcement Learning", "RLHF", "Open-source exercise bank"</a:t>
            </a:r>
          </a:p>
          <a:p/>
          <a:p>
            <a:r>
              <a:t>[Chi tiết] Kết luận: đã xây dựng mô hình hệ thống kết hợp LLMs và Rule-Based Reasoning với pipeline từ code đến step explanation. Hybrid approach cho kết quả vượt trội so với pure LLM. Hướng phát triển: mở rộng ngôn ngữ, cá nhân hóa lộ trình học, tích hợp LLM mới, xây dựng kho bài tập cộng đồng, triển khai production, nghiên cứu RLHF.</a:t>
            </a:r>
          </a:p>
          <a:p/>
          <a:p>
            <a:r>
              <a:t>[Speaker notes] Kết luận lại, chúng em đã xây dựng thành công mô hình hệ thống hỗ trợ giải bài tập lập trình từng bước với sự kết hợp giữa LLMs và Rule-Based Reasoning. Kết quả cho thấy hybrid approach vượt trội so với pure LLM. Về hướng phát triển, chúng em sẽ mở rộng hỗ trợ thêm ngôn ngữ Java, Python; cá nhân hóa lộ trình học; tích hợp các mô hình LLM mới; xây dựng kho bài tập mở; và nghiên cứu RLHF. Cảm ơn thầy và các bạn đã lắng nghe. Bây giờ chúng em xin nhận câu hỏi từ mọi người.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C6E"/>
        </a:solidFill>
        <a:effectLst/>
      </p:bgPr>
    </p:bg>
    <p:spTree>
      <p:nvGrpSpPr>
        <p:cNvPr id="1" name=""/>
        <p:cNvGrpSpPr/>
        <p:nvPr/>
      </p:nvGrpSpPr>
      <p:grpSpPr/>
      <p:sp>
        <p:nvSpPr>
          <p:cNvPr id="2" name="TextBox 1"/>
          <p:cNvSpPr txBox="1"/>
          <p:nvPr/>
        </p:nvSpPr>
        <p:spPr>
          <a:xfrm>
            <a:off x="914400" y="1371600"/>
            <a:ext cx="10332720" cy="1828800"/>
          </a:xfrm>
          <a:prstGeom prst="rect">
            <a:avLst/>
          </a:prstGeom>
          <a:noFill/>
        </p:spPr>
        <p:txBody>
          <a:bodyPr wrap="square">
            <a:spAutoFit/>
          </a:bodyPr>
          <a:lstStyle/>
          <a:p>
            <a:pPr algn="ctr">
              <a:defRPr sz="3600" b="1">
                <a:solidFill>
                  <a:srgbClr val="FFFFFF"/>
                </a:solidFill>
              </a:defRPr>
            </a:pPr>
            <a:r>
              <a:t>HỆ THỐNG HỖ TRỢ GIẢI BÀI TẬP LẬP TRÌNH</a:t>
            </a:r>
            <a:br/>
            <a:r>
              <a:t>CÓ HƯỚNG DẪN TỪNG BƯỚC</a:t>
            </a:r>
          </a:p>
          <a:p>
            <a:pPr algn="ctr">
              <a:spcBef>
                <a:spcPts val="1200"/>
              </a:spcBef>
              <a:defRPr sz="2000" i="1">
                <a:solidFill>
                  <a:srgbClr val="0096D6"/>
                </a:solidFill>
              </a:defRPr>
            </a:pPr>
            <a:r>
              <a:t>Programming Exercise Solving System with Step-by-Step Guidance</a:t>
            </a:r>
          </a:p>
          <a:p>
            <a:pPr algn="ctr">
              <a:spcBef>
                <a:spcPts val="800"/>
              </a:spcBef>
              <a:defRPr sz="1600">
                <a:solidFill>
                  <a:srgbClr val="BBDDFF"/>
                </a:solidFill>
              </a:defRPr>
            </a:pPr>
            <a:r>
              <a:t>Context-Aware Explanations &amp; Diagnostic Rule-Based Reasoning</a:t>
            </a:r>
          </a:p>
        </p:txBody>
      </p:sp>
      <p:sp>
        <p:nvSpPr>
          <p:cNvPr id="3" name="TextBox 2"/>
          <p:cNvSpPr txBox="1"/>
          <p:nvPr/>
        </p:nvSpPr>
        <p:spPr>
          <a:xfrm>
            <a:off x="914400" y="4572000"/>
            <a:ext cx="10332720" cy="1371600"/>
          </a:xfrm>
          <a:prstGeom prst="rect">
            <a:avLst/>
          </a:prstGeom>
          <a:noFill/>
        </p:spPr>
        <p:txBody>
          <a:bodyPr wrap="square">
            <a:spAutoFit/>
          </a:bodyPr>
          <a:lstStyle/>
          <a:p>
            <a:pPr algn="ctr">
              <a:lnSpc>
                <a:spcPts val="2800"/>
              </a:lnSpc>
              <a:defRPr sz="1600">
                <a:solidFill>
                  <a:srgbClr val="CCDDEE"/>
                </a:solidFill>
              </a:defRPr>
            </a:pPr>
            <a:r>
              <a:t>Môn học: Cấu trúc dữ liệu &amp; Thuật toán nâng cao</a:t>
            </a:r>
            <a:br/>
            <a:r>
              <a:t>Giảng viên hướng dẫn: [Tên giảng viên]</a:t>
            </a:r>
            <a:br/>
            <a:r>
              <a:t>Nhóm thực hiện: [Tên nhóm]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NỘI DUNG TRÌNH BÀY (Agenda)</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2000">
                <a:solidFill>
                  <a:srgbClr val="2D2D2D"/>
                </a:solidFill>
              </a:defRPr>
            </a:pPr>
            <a:r>
              <a:t>1. Mục tiêu hệ thống (System Objectives)</a:t>
            </a:r>
          </a:p>
          <a:p>
            <a:pPr>
              <a:spcAft>
                <a:spcPts val="600"/>
              </a:spcAft>
              <a:defRPr sz="2000">
                <a:solidFill>
                  <a:srgbClr val="2D2D2D"/>
                </a:solidFill>
              </a:defRPr>
            </a:pPr>
            <a:r>
              <a:t>2. Thu thập tri thức (Knowledge Acquisition)</a:t>
            </a:r>
          </a:p>
          <a:p>
            <a:pPr>
              <a:spcAft>
                <a:spcPts val="600"/>
              </a:spcAft>
              <a:defRPr sz="2000">
                <a:solidFill>
                  <a:srgbClr val="2D2D2D"/>
                </a:solidFill>
              </a:defRPr>
            </a:pPr>
            <a:r>
              <a:t>3. Phân loại bài tập (Exercise Classification)</a:t>
            </a:r>
          </a:p>
          <a:p>
            <a:pPr>
              <a:spcAft>
                <a:spcPts val="600"/>
              </a:spcAft>
              <a:defRPr sz="2000">
                <a:solidFill>
                  <a:srgbClr val="2D2D2D"/>
                </a:solidFill>
              </a:defRPr>
            </a:pPr>
            <a:r>
              <a:t>4. Mô hình biểu diễn tri thức (Knowledge Representation Model)</a:t>
            </a:r>
          </a:p>
          <a:p>
            <a:pPr>
              <a:spcAft>
                <a:spcPts val="600"/>
              </a:spcAft>
              <a:defRPr sz="2000">
                <a:solidFill>
                  <a:srgbClr val="2D2D2D"/>
                </a:solidFill>
              </a:defRPr>
            </a:pPr>
            <a:r>
              <a:t>5. Kiến trúc hệ thống (System Architecture)</a:t>
            </a:r>
          </a:p>
          <a:p>
            <a:pPr>
              <a:spcAft>
                <a:spcPts val="600"/>
              </a:spcAft>
              <a:defRPr sz="2000">
                <a:solidFill>
                  <a:srgbClr val="2D2D2D"/>
                </a:solidFill>
              </a:defRPr>
            </a:pPr>
            <a:r>
              <a:t>6. Bài toán &amp; Thuật giải (Problems &amp; Algorithms)</a:t>
            </a:r>
          </a:p>
          <a:p>
            <a:pPr>
              <a:spcAft>
                <a:spcPts val="600"/>
              </a:spcAft>
              <a:defRPr sz="2000">
                <a:solidFill>
                  <a:srgbClr val="2D2D2D"/>
                </a:solidFill>
              </a:defRPr>
            </a:pPr>
            <a:r>
              <a:rPr b="1">
                <a:solidFill>
                  <a:srgbClr val="1A3C6E"/>
                </a:solidFill>
              </a:rPr>
              <a:t>7. Kỹ thuật chính (Core Techniques):</a:t>
            </a:r>
            <a:r>
              <a:rPr sz="2000">
                <a:solidFill>
                  <a:srgbClr val="2D2D2D"/>
                </a:solidFill>
              </a:rPr>
              <a:t> LLMs + Rule-Based Reasoning</a:t>
            </a:r>
          </a:p>
          <a:p>
            <a:pPr>
              <a:spcAft>
                <a:spcPts val="600"/>
              </a:spcAft>
              <a:defRPr sz="2000">
                <a:solidFill>
                  <a:srgbClr val="2D2D2D"/>
                </a:solidFill>
              </a:defRPr>
            </a:pPr>
            <a:r>
              <a:t>8. Yêu cầu sản phẩm (Product Requirements)</a:t>
            </a:r>
          </a:p>
          <a:p>
            <a:pPr>
              <a:spcAft>
                <a:spcPts val="600"/>
              </a:spcAft>
              <a:defRPr sz="2000">
                <a:solidFill>
                  <a:srgbClr val="2D2D2D"/>
                </a:solidFill>
              </a:defRPr>
            </a:pPr>
            <a:r>
              <a:t>9. So sánh &amp; Đánh giá (Comparison &amp; Evaluation)</a:t>
            </a:r>
          </a:p>
          <a:p>
            <a:pPr>
              <a:spcAft>
                <a:spcPts val="600"/>
              </a:spcAft>
              <a:defRPr sz="2000">
                <a:solidFill>
                  <a:srgbClr val="2D2D2D"/>
                </a:solidFill>
              </a:defRPr>
            </a:pPr>
            <a:r>
              <a:t>10. Kết luận &amp; Hướng phát triển (Conclusion &amp; Future Work)</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MỤC TIÊU HỆ THỐNG (System Objectives)</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700">
                <a:solidFill>
                  <a:srgbClr val="2D2D2D"/>
                </a:solidFill>
              </a:defRPr>
            </a:pPr>
            <a:r>
              <a:rPr b="1">
                <a:solidFill>
                  <a:srgbClr val="1A3C6E"/>
                </a:solidFill>
              </a:rPr>
              <a:t>🎯 Mục tiêu tổng quát:</a:t>
            </a:r>
            <a:r>
              <a:rPr sz="1700">
                <a:solidFill>
                  <a:srgbClr val="2D2D2D"/>
                </a:solidFill>
              </a:rPr>
              <a:t/>
            </a:r>
          </a:p>
          <a:p>
            <a:pPr>
              <a:spcAft>
                <a:spcPts val="600"/>
              </a:spcAft>
              <a:defRPr sz="1700">
                <a:solidFill>
                  <a:srgbClr val="2D2D2D"/>
                </a:solidFill>
              </a:defRPr>
            </a:pPr>
            <a:r>
              <a:t>Phát triển hệ thống chẩn đoán lỗi logic và thuật toán trong mã nguồn sinh viên (C/C++)</a:t>
            </a:r>
          </a:p>
          <a:p>
            <a:pPr>
              <a:spcAft>
                <a:spcPts val="400"/>
              </a:spcAft>
            </a:pPr>
          </a:p>
          <a:p>
            <a:pPr>
              <a:spcAft>
                <a:spcPts val="600"/>
              </a:spcAft>
              <a:defRPr sz="1700">
                <a:solidFill>
                  <a:srgbClr val="2D2D2D"/>
                </a:solidFill>
              </a:defRPr>
            </a:pPr>
            <a:r>
              <a:rPr b="1">
                <a:solidFill>
                  <a:srgbClr val="1A3C6E"/>
                </a:solidFill>
              </a:rPr>
              <a:t>🔍 Các mục tiêu cụ thể:</a:t>
            </a:r>
            <a:r>
              <a:rPr sz="1700">
                <a:solidFill>
                  <a:srgbClr val="2D2D2D"/>
                </a:solidFill>
              </a:rPr>
              <a:t/>
            </a:r>
          </a:p>
          <a:p>
            <a:pPr>
              <a:spcAft>
                <a:spcPts val="600"/>
              </a:spcAft>
              <a:defRPr sz="1700">
                <a:solidFill>
                  <a:srgbClr val="2D2D2D"/>
                </a:solidFill>
              </a:defRPr>
            </a:pPr>
            <a:r>
              <a:t>• Phát hiện &amp; chẩn đoán (Detection &amp; Diagnosis): Xác định chính xác vị trí và loại lỗi</a:t>
            </a:r>
          </a:p>
          <a:p>
            <a:pPr>
              <a:spcAft>
                <a:spcPts val="600"/>
              </a:spcAft>
              <a:defRPr sz="1700">
                <a:solidFill>
                  <a:srgbClr val="2D2D2D"/>
                </a:solidFill>
              </a:defRPr>
            </a:pPr>
            <a:r>
              <a:t>- Lỗi logic (Logic errors): Sai điều kiện, sai công thức tính toán</a:t>
            </a:r>
          </a:p>
          <a:p>
            <a:pPr>
              <a:spcAft>
                <a:spcPts val="600"/>
              </a:spcAft>
              <a:defRPr sz="1700">
                <a:solidFill>
                  <a:srgbClr val="2D2D2D"/>
                </a:solidFill>
              </a:defRPr>
            </a:pPr>
            <a:r>
              <a:t>- Lỗi thuật toán (Algorithm errors): Chọn sai approach, infinite loop</a:t>
            </a:r>
          </a:p>
          <a:p>
            <a:pPr>
              <a:spcAft>
                <a:spcPts val="600"/>
              </a:spcAft>
              <a:defRPr sz="1700">
                <a:solidFill>
                  <a:srgbClr val="2D2D2D"/>
                </a:solidFill>
              </a:defRPr>
            </a:pPr>
            <a:r>
              <a:t>- Lỗi biên (Boundary errors): Off-by-one, array out of bounds</a:t>
            </a:r>
          </a:p>
          <a:p>
            <a:pPr>
              <a:spcAft>
                <a:spcPts val="600"/>
              </a:spcAft>
              <a:defRPr sz="1700">
                <a:solidFill>
                  <a:srgbClr val="2D2D2D"/>
                </a:solidFill>
              </a:defRPr>
            </a:pPr>
            <a:r>
              <a:t>• Sinh lời giải từng bước (Step-by-Step Solution Generation):</a:t>
            </a:r>
          </a:p>
          <a:p>
            <a:pPr>
              <a:spcAft>
                <a:spcPts val="600"/>
              </a:spcAft>
              <a:defRPr sz="1700">
                <a:solidFill>
                  <a:srgbClr val="2D2D2D"/>
                </a:solidFill>
              </a:defRPr>
            </a:pPr>
            <a:r>
              <a:t>- Tạo hướng dẫn chi tiết kèm giải thích ngữ cảnh (Context-Aware Explanations)</a:t>
            </a:r>
          </a:p>
          <a:p>
            <a:pPr>
              <a:spcAft>
                <a:spcPts val="600"/>
              </a:spcAft>
              <a:defRPr sz="1700">
                <a:solidFill>
                  <a:srgbClr val="2D2D2D"/>
                </a:solidFill>
              </a:defRPr>
            </a:pPr>
            <a:r>
              <a:t>- Dựa trên mô hình tri thức lỗi (Error Knowledge Model)</a:t>
            </a:r>
          </a:p>
          <a:p>
            <a:pPr>
              <a:spcAft>
                <a:spcPts val="600"/>
              </a:spcAft>
              <a:defRPr sz="1700">
                <a:solidFill>
                  <a:srgbClr val="2D2D2D"/>
                </a:solidFill>
              </a:defRPr>
            </a:pPr>
            <a:r>
              <a:t>• Tích hợp LLMs + Rule-Based Reasoning:</a:t>
            </a:r>
          </a:p>
          <a:p>
            <a:pPr>
              <a:spcAft>
                <a:spcPts val="600"/>
              </a:spcAft>
              <a:defRPr sz="1700">
                <a:solidFill>
                  <a:srgbClr val="2D2D2D"/>
                </a:solidFill>
              </a:defRPr>
            </a:pPr>
            <a:r>
              <a:t>- Kết hợp Code Llama / GPT-4 để phân tích ngữ nghĩa mã nguồn</a:t>
            </a:r>
          </a:p>
          <a:p>
            <a:pPr>
              <a:spcAft>
                <a:spcPts val="600"/>
              </a:spcAft>
              <a:defRPr sz="1700">
                <a:solidFill>
                  <a:srgbClr val="2D2D2D"/>
                </a:solidFill>
              </a:defRPr>
            </a:pPr>
            <a:r>
              <a:t>- Suy luận dựa trên luật (Diagnostic Rules) để chẩn đoán chính xác</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THU THẬP TRI THỨC (Knowledge Acquisition)</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600">
                <a:solidFill>
                  <a:srgbClr val="2D2D2D"/>
                </a:solidFill>
              </a:defRPr>
            </a:pPr>
            <a:r>
              <a:rPr b="1">
                <a:solidFill>
                  <a:srgbClr val="1A3C6E"/>
                </a:solidFill>
              </a:rPr>
              <a:t>📚 Nguồn tri thức (Knowledge Sources):</a:t>
            </a:r>
            <a:r>
              <a:rPr sz="1600">
                <a:solidFill>
                  <a:srgbClr val="2D2D2D"/>
                </a:solidFill>
              </a:rPr>
              <a:t/>
            </a:r>
          </a:p>
          <a:p>
            <a:pPr>
              <a:spcAft>
                <a:spcPts val="600"/>
              </a:spcAft>
              <a:defRPr sz="1600">
                <a:solidFill>
                  <a:srgbClr val="2D2D2D"/>
                </a:solidFill>
              </a:defRPr>
            </a:pPr>
            <a:r>
              <a:t>• Sách bài tập lập trình cơ bản: "C Programming: A Modern Approach", "The C Programming Language" (K&amp;R)</a:t>
            </a:r>
          </a:p>
          <a:p>
            <a:pPr>
              <a:spcAft>
                <a:spcPts val="600"/>
              </a:spcAft>
              <a:defRPr sz="1600">
                <a:solidFill>
                  <a:srgbClr val="2D2D2D"/>
                </a:solidFill>
              </a:defRPr>
            </a:pPr>
            <a:r>
              <a:t>• Các tài liệu thuật toán kinh điển: "Introduction to Algorithms" (CLRS), "Cracking the Coding Interview"</a:t>
            </a:r>
          </a:p>
          <a:p>
            <a:pPr>
              <a:spcAft>
                <a:spcPts val="600"/>
              </a:spcAft>
              <a:defRPr sz="1600">
                <a:solidFill>
                  <a:srgbClr val="2D2D2D"/>
                </a:solidFill>
              </a:defRPr>
            </a:pPr>
            <a:r>
              <a:t>• Bộ dữ liệu bài tập sinh viên đã giải (Student submission corpora)</a:t>
            </a:r>
          </a:p>
          <a:p>
            <a:pPr>
              <a:spcAft>
                <a:spcPts val="400"/>
              </a:spcAft>
            </a:pPr>
          </a:p>
          <a:p>
            <a:pPr>
              <a:spcAft>
                <a:spcPts val="600"/>
              </a:spcAft>
              <a:defRPr sz="1600">
                <a:solidFill>
                  <a:srgbClr val="2D2D2D"/>
                </a:solidFill>
              </a:defRPr>
            </a:pPr>
            <a:r>
              <a:rPr b="1">
                <a:solidFill>
                  <a:srgbClr val="1A3C6E"/>
                </a:solidFill>
              </a:rPr>
              <a:t>🗂️ Quy trình thu thập &amp; xử lý (Acquisition Pipeline):</a:t>
            </a:r>
            <a:r>
              <a:rPr sz="1600">
                <a:solidFill>
                  <a:srgbClr val="2D2D2D"/>
                </a:solidFill>
              </a:rPr>
              <a:t/>
            </a:r>
          </a:p>
          <a:p>
            <a:pPr>
              <a:spcAft>
                <a:spcPts val="600"/>
              </a:spcAft>
              <a:defRPr sz="1600">
                <a:solidFill>
                  <a:srgbClr val="2D2D2D"/>
                </a:solidFill>
              </a:defRPr>
            </a:pPr>
            <a:r>
              <a:rPr b="1">
                <a:solidFill>
                  <a:srgbClr val="1A3C6E"/>
                </a:solidFill>
              </a:rPr>
              <a:t>Bước 1:</a:t>
            </a:r>
            <a:r>
              <a:rPr sz="1600">
                <a:solidFill>
                  <a:srgbClr val="2D2D2D"/>
                </a:solidFill>
              </a:rPr>
              <a:t> Thu thập đề bài &amp; bài giải mẫu từ nhiều nguồn khác nhau</a:t>
            </a:r>
          </a:p>
          <a:p>
            <a:pPr>
              <a:spcAft>
                <a:spcPts val="600"/>
              </a:spcAft>
              <a:defRPr sz="1600">
                <a:solidFill>
                  <a:srgbClr val="2D2D2D"/>
                </a:solidFill>
              </a:defRPr>
            </a:pPr>
            <a:r>
              <a:rPr b="1">
                <a:solidFill>
                  <a:srgbClr val="1A3C6E"/>
                </a:solidFill>
              </a:rPr>
              <a:t>Bước 2:</a:t>
            </a:r>
            <a:r>
              <a:rPr sz="1600">
                <a:solidFill>
                  <a:srgbClr val="2D2D2D"/>
                </a:solidFill>
              </a:rPr>
              <a:t> Trích xuất đặc trưng (Feature extraction): cấu trúc điều khiển, kiểu dữ liệu, thuật toán sử dụng</a:t>
            </a:r>
          </a:p>
          <a:p>
            <a:pPr>
              <a:spcAft>
                <a:spcPts val="600"/>
              </a:spcAft>
              <a:defRPr sz="1600">
                <a:solidFill>
                  <a:srgbClr val="2D2D2D"/>
                </a:solidFill>
              </a:defRPr>
            </a:pPr>
            <a:r>
              <a:rPr b="1">
                <a:solidFill>
                  <a:srgbClr val="1A3C6E"/>
                </a:solidFill>
              </a:rPr>
              <a:t>Bước 3:</a:t>
            </a:r>
            <a:r>
              <a:rPr sz="1600">
                <a:solidFill>
                  <a:srgbClr val="2D2D2D"/>
                </a:solidFill>
              </a:rPr>
              <a:t> Gán nhãn lỗi (Error labeling): xác định các lỗi thường gặp cho từng dạng bài</a:t>
            </a:r>
          </a:p>
          <a:p>
            <a:pPr>
              <a:spcAft>
                <a:spcPts val="600"/>
              </a:spcAft>
              <a:defRPr sz="1600">
                <a:solidFill>
                  <a:srgbClr val="2D2D2D"/>
                </a:solidFill>
              </a:defRPr>
            </a:pPr>
            <a:r>
              <a:rPr b="1">
                <a:solidFill>
                  <a:srgbClr val="1A3C6E"/>
                </a:solidFill>
              </a:rPr>
              <a:t>Bước 4:</a:t>
            </a:r>
            <a:r>
              <a:rPr sz="1600">
                <a:solidFill>
                  <a:srgbClr val="2D2D2D"/>
                </a:solidFill>
              </a:rPr>
              <a:t> Xây dựng tập luật chẩn đoán (Diagnostic Rules) dựa trên expert knowledge</a:t>
            </a:r>
          </a:p>
          <a:p>
            <a:pPr>
              <a:spcAft>
                <a:spcPts val="400"/>
              </a:spcAft>
            </a:pPr>
          </a:p>
          <a:p>
            <a:pPr>
              <a:spcAft>
                <a:spcPts val="600"/>
              </a:spcAft>
              <a:defRPr sz="1600">
                <a:solidFill>
                  <a:srgbClr val="2D2D2D"/>
                </a:solidFill>
              </a:defRPr>
            </a:pPr>
            <a:r>
              <a:rPr b="1">
                <a:solidFill>
                  <a:srgbClr val="1A3C6E"/>
                </a:solidFill>
              </a:rPr>
              <a:t>⚙️ Công cụ hỗ trợ:</a:t>
            </a:r>
            <a:r>
              <a:rPr sz="1600">
                <a:solidFill>
                  <a:srgbClr val="2D2D2D"/>
                </a:solidFill>
              </a:rPr>
              <a:t/>
            </a:r>
          </a:p>
          <a:p>
            <a:pPr>
              <a:spcAft>
                <a:spcPts val="600"/>
              </a:spcAft>
              <a:defRPr sz="1600">
                <a:solidFill>
                  <a:srgbClr val="2D2D2D"/>
                </a:solidFill>
              </a:defRPr>
            </a:pPr>
            <a:r>
              <a:t>• Static code analysis (AST parsing) để phân tích cú pháp mã nguồn</a:t>
            </a:r>
          </a:p>
          <a:p>
            <a:pPr>
              <a:spcAft>
                <a:spcPts val="600"/>
              </a:spcAft>
              <a:defRPr sz="1600">
                <a:solidFill>
                  <a:srgbClr val="2D2D2D"/>
                </a:solidFill>
              </a:defRPr>
            </a:pPr>
            <a:r>
              <a:t>• Dynamic testing với test cases để phát hiện lỗi runtime</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PHÂN LOẠI BÀI TẬP (Exercise Classification)</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600">
                <a:solidFill>
                  <a:srgbClr val="2D2D2D"/>
                </a:solidFill>
              </a:defRPr>
            </a:pPr>
            <a:r>
              <a:rPr b="1">
                <a:solidFill>
                  <a:srgbClr val="1A3C6E"/>
                </a:solidFill>
              </a:rPr>
              <a:t>📂 Hệ thống phân loại bài tập theo các chủ đề chính:</a:t>
            </a:r>
            <a:r>
              <a:rPr sz="1600">
                <a:solidFill>
                  <a:srgbClr val="2D2D2D"/>
                </a:solidFill>
              </a:rPr>
              <a:t/>
            </a:r>
          </a:p>
          <a:p>
            <a:pPr>
              <a:spcAft>
                <a:spcPts val="400"/>
              </a:spcAft>
            </a:pPr>
          </a:p>
          <a:p>
            <a:pPr>
              <a:spcAft>
                <a:spcPts val="600"/>
              </a:spcAft>
              <a:defRPr sz="1600">
                <a:solidFill>
                  <a:srgbClr val="2D2D2D"/>
                </a:solidFill>
              </a:defRPr>
            </a:pPr>
            <a:r>
              <a:rPr b="1">
                <a:solidFill>
                  <a:srgbClr val="1A3C6E"/>
                </a:solidFill>
              </a:rPr>
              <a:t>🔷 Mảng (Arrays):</a:t>
            </a:r>
            <a:r>
              <a:rPr sz="1600">
                <a:solidFill>
                  <a:srgbClr val="2D2D2D"/>
                </a:solidFill>
              </a:rPr>
              <a:t/>
            </a:r>
          </a:p>
          <a:p>
            <a:pPr>
              <a:spcAft>
                <a:spcPts val="600"/>
              </a:spcAft>
              <a:defRPr sz="1600">
                <a:solidFill>
                  <a:srgbClr val="2D2D2D"/>
                </a:solidFill>
              </a:defRPr>
            </a:pPr>
            <a:r>
              <a:t>• One-dimensional arrays: tìm kiếm, sắp xếp, đảo ngược</a:t>
            </a:r>
          </a:p>
          <a:p>
            <a:pPr>
              <a:spcAft>
                <a:spcPts val="600"/>
              </a:spcAft>
              <a:defRPr sz="1600">
                <a:solidFill>
                  <a:srgbClr val="2D2D2D"/>
                </a:solidFill>
              </a:defRPr>
            </a:pPr>
            <a:r>
              <a:t>• Multi-dimensional arrays: ma trận, xoay vòng, nhân ma trận</a:t>
            </a:r>
          </a:p>
          <a:p>
            <a:pPr>
              <a:spcAft>
                <a:spcPts val="400"/>
              </a:spcAft>
            </a:pPr>
          </a:p>
          <a:p>
            <a:pPr>
              <a:spcAft>
                <a:spcPts val="600"/>
              </a:spcAft>
              <a:defRPr sz="1600">
                <a:solidFill>
                  <a:srgbClr val="2D2D2D"/>
                </a:solidFill>
              </a:defRPr>
            </a:pPr>
            <a:r>
              <a:rPr b="1">
                <a:solidFill>
                  <a:srgbClr val="1A3C6E"/>
                </a:solidFill>
              </a:rPr>
              <a:t>🔄 Vòng lặp (Loops):</a:t>
            </a:r>
            <a:r>
              <a:rPr sz="1600">
                <a:solidFill>
                  <a:srgbClr val="2D2D2D"/>
                </a:solidFill>
              </a:rPr>
              <a:t/>
            </a:r>
          </a:p>
          <a:p>
            <a:pPr>
              <a:spcAft>
                <a:spcPts val="600"/>
              </a:spcAft>
              <a:defRPr sz="1600">
                <a:solidFill>
                  <a:srgbClr val="2D2D2D"/>
                </a:solidFill>
              </a:defRPr>
            </a:pPr>
            <a:r>
              <a:t>• for loop, while loop, do-while loop</a:t>
            </a:r>
          </a:p>
          <a:p>
            <a:pPr>
              <a:spcAft>
                <a:spcPts val="600"/>
              </a:spcAft>
              <a:defRPr sz="1600">
                <a:solidFill>
                  <a:srgbClr val="2D2D2D"/>
                </a:solidFill>
              </a:defRPr>
            </a:pPr>
            <a:r>
              <a:t>• Pattern printing, iterative computation</a:t>
            </a:r>
          </a:p>
          <a:p>
            <a:pPr>
              <a:spcAft>
                <a:spcPts val="400"/>
              </a:spcAft>
            </a:pPr>
          </a:p>
          <a:p>
            <a:pPr>
              <a:spcAft>
                <a:spcPts val="600"/>
              </a:spcAft>
              <a:defRPr sz="1600">
                <a:solidFill>
                  <a:srgbClr val="2D2D2D"/>
                </a:solidFill>
              </a:defRPr>
            </a:pPr>
            <a:r>
              <a:rPr b="1">
                <a:solidFill>
                  <a:srgbClr val="1A3C6E"/>
                </a:solidFill>
              </a:rPr>
              <a:t>🔁 Đệ quy (Recursion):</a:t>
            </a:r>
            <a:r>
              <a:rPr sz="1600">
                <a:solidFill>
                  <a:srgbClr val="2D2D2D"/>
                </a:solidFill>
              </a:rPr>
              <a:t/>
            </a:r>
          </a:p>
          <a:p>
            <a:pPr>
              <a:spcAft>
                <a:spcPts val="600"/>
              </a:spcAft>
              <a:defRPr sz="1600">
                <a:solidFill>
                  <a:srgbClr val="2D2D2D"/>
                </a:solidFill>
              </a:defRPr>
            </a:pPr>
            <a:r>
              <a:t>• Divide and conquer: binary search, merge sort, quick sort</a:t>
            </a:r>
          </a:p>
          <a:p>
            <a:pPr>
              <a:spcAft>
                <a:spcPts val="600"/>
              </a:spcAft>
              <a:defRPr sz="1600">
                <a:solidFill>
                  <a:srgbClr val="2D2D2D"/>
                </a:solidFill>
              </a:defRPr>
            </a:pPr>
            <a:r>
              <a:t>• Backtracking: N-Queens, maze solving, permutation generation</a:t>
            </a:r>
          </a:p>
          <a:p>
            <a:pPr>
              <a:spcAft>
                <a:spcPts val="400"/>
              </a:spcAft>
            </a:pPr>
          </a:p>
          <a:p>
            <a:pPr>
              <a:spcAft>
                <a:spcPts val="600"/>
              </a:spcAft>
              <a:defRPr sz="1600">
                <a:solidFill>
                  <a:srgbClr val="2D2D2D"/>
                </a:solidFill>
              </a:defRPr>
            </a:pPr>
            <a:r>
              <a:rPr b="1">
                <a:solidFill>
                  <a:srgbClr val="1A3C6E"/>
                </a:solidFill>
              </a:rPr>
              <a:t>📊 Cấu trúc dữ liệu (Data Structures):</a:t>
            </a:r>
            <a:r>
              <a:rPr sz="1600">
                <a:solidFill>
                  <a:srgbClr val="2D2D2D"/>
                </a:solidFill>
              </a:rPr>
              <a:t/>
            </a:r>
          </a:p>
          <a:p>
            <a:pPr>
              <a:spcAft>
                <a:spcPts val="600"/>
              </a:spcAft>
              <a:defRPr sz="1600">
                <a:solidFill>
                  <a:srgbClr val="2D2D2D"/>
                </a:solidFill>
              </a:defRPr>
            </a:pPr>
            <a:r>
              <a:t>• Stack, Queue, Linked List, Tree, Graph</a:t>
            </a:r>
          </a:p>
          <a:p>
            <a:pPr>
              <a:spcAft>
                <a:spcPts val="600"/>
              </a:spcAft>
              <a:defRPr sz="1600">
                <a:solidFill>
                  <a:srgbClr val="2D2D2D"/>
                </a:solidFill>
              </a:defRPr>
            </a:pPr>
            <a:r>
              <a:t>• Operations: insertion, deletion, traversal, searching</a:t>
            </a:r>
          </a:p>
          <a:p>
            <a:pPr>
              <a:spcAft>
                <a:spcPts val="400"/>
              </a:spcAft>
            </a:pPr>
          </a:p>
          <a:p>
            <a:pPr>
              <a:spcAft>
                <a:spcPts val="600"/>
              </a:spcAft>
              <a:defRPr sz="1600">
                <a:solidFill>
                  <a:srgbClr val="2D2D2D"/>
                </a:solidFill>
              </a:defRPr>
            </a:pPr>
            <a:r>
              <a:rPr b="1">
                <a:solidFill>
                  <a:srgbClr val="1A3C6E"/>
                </a:solidFill>
              </a:rPr>
              <a:t>⚡ Thuật toán sắp xếp &amp; tìm kiếm (Sorting &amp; Searching):</a:t>
            </a:r>
            <a:r>
              <a:rPr sz="1600">
                <a:solidFill>
                  <a:srgbClr val="2D2D2D"/>
                </a:solidFill>
              </a:rPr>
              <a:t/>
            </a:r>
          </a:p>
          <a:p>
            <a:pPr>
              <a:spcAft>
                <a:spcPts val="600"/>
              </a:spcAft>
              <a:defRPr sz="1600">
                <a:solidFill>
                  <a:srgbClr val="2D2D2D"/>
                </a:solidFill>
              </a:defRPr>
            </a:pPr>
            <a:r>
              <a:t>• Bubble Sort, Selection Sort, Insertion Sort, Merge Sort, Quick Sort</a:t>
            </a:r>
          </a:p>
          <a:p>
            <a:pPr>
              <a:spcAft>
                <a:spcPts val="600"/>
              </a:spcAft>
              <a:defRPr sz="1600">
                <a:solidFill>
                  <a:srgbClr val="2D2D2D"/>
                </a:solidFill>
              </a:defRPr>
            </a:pPr>
            <a:r>
              <a:t>• Linear Search, Binary Search, Hashing</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MÔ HÌNH BIỂU DIỄN TRI THỨC (Knowledge Representation Model)</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500">
                <a:solidFill>
                  <a:srgbClr val="2D2D2D"/>
                </a:solidFill>
              </a:defRPr>
            </a:pPr>
            <a:r>
              <a:rPr b="1">
                <a:solidFill>
                  <a:srgbClr val="1A3C6E"/>
                </a:solidFill>
              </a:rPr>
              <a:t>🧠 Mô hình hóa mối quan hệ giữa các thành phần tri thức:</a:t>
            </a:r>
            <a:r>
              <a:rPr sz="1500">
                <a:solidFill>
                  <a:srgbClr val="2D2D2D"/>
                </a:solidFill>
              </a:rPr>
              <a:t/>
            </a:r>
          </a:p>
          <a:p>
            <a:pPr>
              <a:spcAft>
                <a:spcPts val="400"/>
              </a:spcAft>
            </a:pPr>
          </a:p>
          <a:p>
            <a:pPr>
              <a:spcAft>
                <a:spcPts val="600"/>
              </a:spcAft>
              <a:defRPr sz="1500">
                <a:solidFill>
                  <a:srgbClr val="2D2D2D"/>
                </a:solidFill>
              </a:defRPr>
            </a:pPr>
            <a:r>
              <a:t>Bài toán (Problem)  →  Thuật toán (Algorithm)  →  Cấu trúc Dữ liệu (Data Structure)</a:t>
            </a:r>
          </a:p>
          <a:p>
            <a:pPr>
              <a:spcAft>
                <a:spcPts val="600"/>
              </a:spcAft>
              <a:defRPr sz="1500">
                <a:solidFill>
                  <a:srgbClr val="2D2D2D"/>
                </a:solidFill>
              </a:defRPr>
            </a:pPr>
            <a:r>
              <a:t>↓                       ↓                           ↓</a:t>
            </a:r>
          </a:p>
          <a:p>
            <a:pPr>
              <a:spcAft>
                <a:spcPts val="600"/>
              </a:spcAft>
              <a:defRPr sz="1500">
                <a:solidFill>
                  <a:srgbClr val="2D2D2D"/>
                </a:solidFill>
              </a:defRPr>
            </a:pPr>
            <a:r>
              <a:t>Lỗi thường gặp (Common Errors)  ←  Hướng khắc phục (Fix Guidance)</a:t>
            </a:r>
          </a:p>
          <a:p>
            <a:pPr>
              <a:spcAft>
                <a:spcPts val="400"/>
              </a:spcAft>
            </a:pPr>
          </a:p>
          <a:p>
            <a:pPr>
              <a:spcAft>
                <a:spcPts val="600"/>
              </a:spcAft>
              <a:defRPr sz="1500">
                <a:solidFill>
                  <a:srgbClr val="2D2D2D"/>
                </a:solidFill>
              </a:defRPr>
            </a:pPr>
            <a:r>
              <a:rPr b="1">
                <a:solidFill>
                  <a:srgbClr val="1A3C6E"/>
                </a:solidFill>
              </a:rPr>
              <a:t>📐 Cấu trúc xử lý (Processing Pipeline):</a:t>
            </a:r>
            <a:r>
              <a:rPr sz="1500">
                <a:solidFill>
                  <a:srgbClr val="2D2D2D"/>
                </a:solidFill>
              </a:rPr>
              <a:t/>
            </a:r>
          </a:p>
          <a:p>
            <a:pPr>
              <a:spcAft>
                <a:spcPts val="600"/>
              </a:spcAft>
              <a:defRPr sz="1500">
                <a:solidFill>
                  <a:srgbClr val="2D2D2D"/>
                </a:solidFill>
              </a:defRPr>
            </a:pPr>
            <a:r>
              <a:t>Code (Input) → Pattern Matching (AST-based) → Rule Triggered (Diagnostic Rules)</a:t>
            </a:r>
          </a:p>
          <a:p>
            <a:pPr>
              <a:spcAft>
                <a:spcPts val="600"/>
              </a:spcAft>
              <a:defRPr sz="1500">
                <a:solidFill>
                  <a:srgbClr val="2D2D2D"/>
                </a:solidFill>
              </a:defRPr>
            </a:pPr>
            <a:r>
              <a:t>→ Step Explanation (Context-Aware) → Solution Output</a:t>
            </a:r>
          </a:p>
          <a:p>
            <a:pPr>
              <a:spcAft>
                <a:spcPts val="400"/>
              </a:spcAft>
            </a:pPr>
          </a:p>
          <a:p>
            <a:pPr>
              <a:spcAft>
                <a:spcPts val="600"/>
              </a:spcAft>
              <a:defRPr sz="1500">
                <a:solidFill>
                  <a:srgbClr val="2D2D2D"/>
                </a:solidFill>
              </a:defRPr>
            </a:pPr>
            <a:r>
              <a:rPr b="1">
                <a:solidFill>
                  <a:srgbClr val="1A3C6E"/>
                </a:solidFill>
              </a:rPr>
              <a:t>⚙️ Cơ chế hoạt động (How It Works):</a:t>
            </a:r>
            <a:r>
              <a:rPr sz="1500">
                <a:solidFill>
                  <a:srgbClr val="2D2D2D"/>
                </a:solidFill>
              </a:rPr>
              <a:t/>
            </a:r>
          </a:p>
          <a:p>
            <a:pPr>
              <a:spcAft>
                <a:spcPts val="600"/>
              </a:spcAft>
              <a:defRPr sz="1500">
                <a:solidFill>
                  <a:srgbClr val="2D2D2D"/>
                </a:solidFill>
              </a:defRPr>
            </a:pPr>
            <a:r>
              <a:t>• Bước 1: Nhận mã nguồn C/C++ đầu vào</a:t>
            </a:r>
          </a:p>
          <a:p>
            <a:pPr>
              <a:spcAft>
                <a:spcPts val="600"/>
              </a:spcAft>
              <a:defRPr sz="1500">
                <a:solidFill>
                  <a:srgbClr val="2D2D2D"/>
                </a:solidFill>
              </a:defRPr>
            </a:pPr>
            <a:r>
              <a:t>• Bước 2: Phân tích cú pháp thành Abstract Syntax Tree (AST)</a:t>
            </a:r>
          </a:p>
          <a:p>
            <a:pPr>
              <a:spcAft>
                <a:spcPts val="600"/>
              </a:spcAft>
              <a:defRPr sz="1500">
                <a:solidFill>
                  <a:srgbClr val="2D2D2D"/>
                </a:solidFill>
              </a:defRPr>
            </a:pPr>
            <a:r>
              <a:t>• Bước 3: Pattern Matching phát hiện cấu trúc code (loop, recursion, array access...)</a:t>
            </a:r>
          </a:p>
          <a:p>
            <a:pPr>
              <a:spcAft>
                <a:spcPts val="600"/>
              </a:spcAft>
              <a:defRPr sz="1500">
                <a:solidFill>
                  <a:srgbClr val="2D2D2D"/>
                </a:solidFill>
              </a:defRPr>
            </a:pPr>
            <a:r>
              <a:t>• Bước 4: Kích hoạt luật chẩn đoán tương ứng (Diagnostic Rule Triggering)</a:t>
            </a:r>
          </a:p>
          <a:p>
            <a:pPr>
              <a:spcAft>
                <a:spcPts val="600"/>
              </a:spcAft>
              <a:defRPr sz="1500">
                <a:solidFill>
                  <a:srgbClr val="2D2D2D"/>
                </a:solidFill>
              </a:defRPr>
            </a:pPr>
            <a:r>
              <a:t>• Bước 5: Sinh giải thích từng bước dựa trên ngữ cảnh cụ thể của bài toán</a:t>
            </a:r>
          </a:p>
          <a:p>
            <a:pPr>
              <a:spcAft>
                <a:spcPts val="400"/>
              </a:spcAft>
            </a:pPr>
          </a:p>
          <a:p>
            <a:pPr>
              <a:spcAft>
                <a:spcPts val="600"/>
              </a:spcAft>
              <a:defRPr sz="1500">
                <a:solidFill>
                  <a:srgbClr val="2D2D2D"/>
                </a:solidFill>
              </a:defRPr>
            </a:pPr>
            <a:r>
              <a:rPr b="1">
                <a:solidFill>
                  <a:srgbClr val="1A3C6E"/>
                </a:solidFill>
              </a:rPr>
              <a:t>📊 Ví dụ:</a:t>
            </a:r>
            <a:r>
              <a:rPr sz="1500">
                <a:solidFill>
                  <a:srgbClr val="2D2D2D"/>
                </a:solidFill>
              </a:rPr>
              <a:t> Với bài toán "tính tổng mảng", nếu phát hiện vòng lặp thiếu cập nhật biến đếm</a:t>
            </a:r>
          </a:p>
          <a:p>
            <a:pPr>
              <a:spcAft>
                <a:spcPts val="600"/>
              </a:spcAft>
              <a:defRPr sz="1500">
                <a:solidFill>
                  <a:srgbClr val="2D2D2D"/>
                </a:solidFill>
              </a:defRPr>
            </a:pPr>
            <a:r>
              <a:rPr b="1">
                <a:solidFill>
                  <a:srgbClr val="1A3C6E"/>
                </a:solidFill>
              </a:rPr>
              <a:t>→ Rule:</a:t>
            </a:r>
            <a:r>
              <a:rPr sz="1500">
                <a:solidFill>
                  <a:srgbClr val="2D2D2D"/>
                </a:solidFill>
              </a:rPr>
              <a:t> "Loop counter not updated" → Giải thích: "Bạn quên tăng i trong vòng lặp while"</a:t>
            </a:r>
          </a:p>
          <a:p>
            <a:pPr>
              <a:spcAft>
                <a:spcPts val="600"/>
              </a:spcAft>
              <a:defRPr sz="1500">
                <a:solidFill>
                  <a:srgbClr val="2D2D2D"/>
                </a:solidFill>
              </a:defRPr>
            </a:pPr>
            <a:r>
              <a:rPr b="1">
                <a:solidFill>
                  <a:srgbClr val="1A3C6E"/>
                </a:solidFill>
              </a:rPr>
              <a:t>→ Hướng khắc phục:</a:t>
            </a:r>
            <a:r>
              <a:rPr sz="1500">
                <a:solidFill>
                  <a:srgbClr val="2D2D2D"/>
                </a:solidFill>
              </a:rPr>
              <a:t> "Thêm i++ vào cuối thân vòng lặp</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KIẾN TRÚC HỆ THỐNG (System Architecture)</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400">
                <a:solidFill>
                  <a:srgbClr val="2D2D2D"/>
                </a:solidFill>
              </a:defRPr>
            </a:pPr>
            <a:r>
              <a:rPr b="1">
                <a:solidFill>
                  <a:srgbClr val="1A3C6E"/>
                </a:solidFill>
              </a:rPr>
              <a:t>🏗️ Tổng quan kiến trúc (Architecture Overview):</a:t>
            </a:r>
            <a:r>
              <a:rPr sz="1400">
                <a:solidFill>
                  <a:srgbClr val="2D2D2D"/>
                </a:solidFill>
              </a:rPr>
              <a:t/>
            </a:r>
          </a:p>
          <a:p>
            <a:pPr>
              <a:spcAft>
                <a:spcPts val="400"/>
              </a:spcAft>
            </a:pPr>
          </a:p>
          <a:p>
            <a:pPr>
              <a:spcAft>
                <a:spcPts val="600"/>
              </a:spcAft>
              <a:defRPr sz="1400">
                <a:solidFill>
                  <a:srgbClr val="2D2D2D"/>
                </a:solidFill>
              </a:defRPr>
            </a:pPr>
            <a:r>
              <a:t>┌─────────────────────────────────────────────────────────┐</a:t>
            </a:r>
          </a:p>
          <a:p>
            <a:pPr>
              <a:spcAft>
                <a:spcPts val="600"/>
              </a:spcAft>
              <a:defRPr sz="1400">
                <a:solidFill>
                  <a:srgbClr val="2D2D2D"/>
                </a:solidFill>
              </a:defRPr>
            </a:pPr>
            <a:r>
              <a:t>│                    User Interface Layer                  │</a:t>
            </a:r>
          </a:p>
          <a:p>
            <a:pPr>
              <a:spcAft>
                <a:spcPts val="600"/>
              </a:spcAft>
              <a:defRPr sz="1400">
                <a:solidFill>
                  <a:srgbClr val="2D2D2D"/>
                </a:solidFill>
              </a:defRPr>
            </a:pPr>
            <a:r>
              <a:rPr b="1">
                <a:solidFill>
                  <a:srgbClr val="1A3C6E"/>
                </a:solidFill>
              </a:rPr>
              <a:t>│   Web UI:</a:t>
            </a:r>
            <a:r>
              <a:rPr sz="1400">
                <a:solidFill>
                  <a:srgbClr val="2D2D2D"/>
                </a:solidFill>
              </a:rPr>
              <a:t> Code Editor (Monaco/CodeMirror) + Output      │</a:t>
            </a:r>
          </a:p>
          <a:p>
            <a:pPr>
              <a:spcAft>
                <a:spcPts val="600"/>
              </a:spcAft>
              <a:defRPr sz="1400">
                <a:solidFill>
                  <a:srgbClr val="2D2D2D"/>
                </a:solidFill>
              </a:defRPr>
            </a:pPr>
            <a:r>
              <a:t>└────────────────────────┬────────────────────────────────┘</a:t>
            </a:r>
          </a:p>
          <a:p>
            <a:pPr>
              <a:spcAft>
                <a:spcPts val="600"/>
              </a:spcAft>
              <a:defRPr sz="1400">
                <a:solidFill>
                  <a:srgbClr val="2D2D2D"/>
                </a:solidFill>
              </a:defRPr>
            </a:pPr>
            <a:r>
              <a:t>│</a:t>
            </a:r>
          </a:p>
          <a:p>
            <a:pPr>
              <a:spcAft>
                <a:spcPts val="600"/>
              </a:spcAft>
              <a:defRPr sz="1400">
                <a:solidFill>
                  <a:srgbClr val="2D2D2D"/>
                </a:solidFill>
              </a:defRPr>
            </a:pPr>
            <a:r>
              <a:t>┌────────────────────────┴────────────────────────────────┐</a:t>
            </a:r>
          </a:p>
          <a:p>
            <a:pPr>
              <a:spcAft>
                <a:spcPts val="600"/>
              </a:spcAft>
              <a:defRPr sz="1400">
                <a:solidFill>
                  <a:srgbClr val="2D2D2D"/>
                </a:solidFill>
              </a:defRPr>
            </a:pPr>
            <a:r>
              <a:t>│                   Processing Layer                       │</a:t>
            </a:r>
          </a:p>
          <a:p>
            <a:pPr>
              <a:spcAft>
                <a:spcPts val="600"/>
              </a:spcAft>
              <a:defRPr sz="1400">
                <a:solidFill>
                  <a:srgbClr val="2D2D2D"/>
                </a:solidFill>
              </a:defRPr>
            </a:pPr>
            <a:r>
              <a:t>│  Code Parser (AST) → Pattern Matcher → Rule Engine      │</a:t>
            </a:r>
          </a:p>
          <a:p>
            <a:pPr>
              <a:spcAft>
                <a:spcPts val="600"/>
              </a:spcAft>
              <a:defRPr sz="1400">
                <a:solidFill>
                  <a:srgbClr val="2D2D2D"/>
                </a:solidFill>
              </a:defRPr>
            </a:pPr>
            <a:r>
              <a:t>│  → LLM Connector (Code Llama / GPT-4 API)               │</a:t>
            </a:r>
          </a:p>
          <a:p>
            <a:pPr>
              <a:spcAft>
                <a:spcPts val="600"/>
              </a:spcAft>
              <a:defRPr sz="1400">
                <a:solidFill>
                  <a:srgbClr val="2D2D2D"/>
                </a:solidFill>
              </a:defRPr>
            </a:pPr>
            <a:r>
              <a:t>└────────────────────────┬────────────────────────────────┘</a:t>
            </a:r>
          </a:p>
          <a:p>
            <a:pPr>
              <a:spcAft>
                <a:spcPts val="600"/>
              </a:spcAft>
              <a:defRPr sz="1400">
                <a:solidFill>
                  <a:srgbClr val="2D2D2D"/>
                </a:solidFill>
              </a:defRPr>
            </a:pPr>
            <a:r>
              <a:t>│</a:t>
            </a:r>
          </a:p>
          <a:p>
            <a:pPr>
              <a:spcAft>
                <a:spcPts val="600"/>
              </a:spcAft>
              <a:defRPr sz="1400">
                <a:solidFill>
                  <a:srgbClr val="2D2D2D"/>
                </a:solidFill>
              </a:defRPr>
            </a:pPr>
            <a:r>
              <a:t>┌────────────────────────┴────────────────────────────────┐</a:t>
            </a:r>
          </a:p>
          <a:p>
            <a:pPr>
              <a:spcAft>
                <a:spcPts val="600"/>
              </a:spcAft>
              <a:defRPr sz="1400">
                <a:solidFill>
                  <a:srgbClr val="2D2D2D"/>
                </a:solidFill>
              </a:defRPr>
            </a:pPr>
            <a:r>
              <a:t>│                  Knowledge Layer                         │</a:t>
            </a:r>
          </a:p>
          <a:p>
            <a:pPr>
              <a:spcAft>
                <a:spcPts val="600"/>
              </a:spcAft>
              <a:defRPr sz="1400">
                <a:solidFill>
                  <a:srgbClr val="2D2D2D"/>
                </a:solidFill>
              </a:defRPr>
            </a:pPr>
            <a:r>
              <a:t>│  Exercise DB │ Error KB │ Diagnostic Rules │ Fix DB     │</a:t>
            </a:r>
          </a:p>
          <a:p>
            <a:pPr>
              <a:spcAft>
                <a:spcPts val="600"/>
              </a:spcAft>
              <a:defRPr sz="1400">
                <a:solidFill>
                  <a:srgbClr val="2D2D2D"/>
                </a:solidFill>
              </a:defRPr>
            </a:pPr>
            <a:r>
              <a:t>└────────────────────────┬────────────────────────────────┘</a:t>
            </a:r>
          </a:p>
          <a:p>
            <a:pPr>
              <a:spcAft>
                <a:spcPts val="600"/>
              </a:spcAft>
              <a:defRPr sz="1400">
                <a:solidFill>
                  <a:srgbClr val="2D2D2D"/>
                </a:solidFill>
              </a:defRPr>
            </a:pPr>
            <a:r>
              <a:t>│</a:t>
            </a:r>
          </a:p>
          <a:p>
            <a:pPr>
              <a:spcAft>
                <a:spcPts val="600"/>
              </a:spcAft>
              <a:defRPr sz="1400">
                <a:solidFill>
                  <a:srgbClr val="2D2D2D"/>
                </a:solidFill>
              </a:defRPr>
            </a:pPr>
            <a:r>
              <a:t>┌────────────────────────┴────────────────────────────────┐</a:t>
            </a:r>
          </a:p>
          <a:p>
            <a:pPr>
              <a:spcAft>
                <a:spcPts val="600"/>
              </a:spcAft>
              <a:defRPr sz="1400">
                <a:solidFill>
                  <a:srgbClr val="2D2D2D"/>
                </a:solidFill>
              </a:defRPr>
            </a:pPr>
            <a:r>
              <a:t>│                   Data Layer                             │</a:t>
            </a:r>
          </a:p>
          <a:p>
            <a:pPr>
              <a:spcAft>
                <a:spcPts val="600"/>
              </a:spcAft>
              <a:defRPr sz="1400">
                <a:solidFill>
                  <a:srgbClr val="2D2D2D"/>
                </a:solidFill>
              </a:defRPr>
            </a:pPr>
            <a:r>
              <a:t>│   PostgreSQL (structured) + Vector DB (embeddings)      │</a:t>
            </a:r>
          </a:p>
          <a:p>
            <a:pPr>
              <a:spcAft>
                <a:spcPts val="600"/>
              </a:spcAft>
              <a:defRPr sz="1400">
                <a:solidFill>
                  <a:srgbClr val="2D2D2D"/>
                </a:solidFill>
              </a:defRPr>
            </a:pPr>
            <a:r>
              <a:t>└─────────────────────────────────────────────────────────┘</a:t>
            </a:r>
          </a:p>
          <a:p>
            <a:pPr>
              <a:spcAft>
                <a:spcPts val="400"/>
              </a:spcAft>
            </a:pPr>
          </a:p>
          <a:p>
            <a:pPr>
              <a:spcAft>
                <a:spcPts val="600"/>
              </a:spcAft>
              <a:defRPr sz="1400">
                <a:solidFill>
                  <a:srgbClr val="2D2D2D"/>
                </a:solidFill>
              </a:defRPr>
            </a:pPr>
            <a:r>
              <a:rPr b="1">
                <a:solidFill>
                  <a:srgbClr val="1A3C6E"/>
                </a:solidFill>
              </a:rPr>
              <a:t>🛠️ Công nghệ sử dụng (Tech Stack):</a:t>
            </a:r>
            <a:r>
              <a:rPr sz="1400">
                <a:solidFill>
                  <a:srgbClr val="2D2D2D"/>
                </a:solidFill>
              </a:rPr>
              <a:t/>
            </a:r>
          </a:p>
          <a:p>
            <a:pPr>
              <a:spcAft>
                <a:spcPts val="600"/>
              </a:spcAft>
              <a:defRPr sz="1400">
                <a:solidFill>
                  <a:srgbClr val="2D2D2D"/>
                </a:solidFill>
              </a:defRPr>
            </a:pPr>
            <a:r>
              <a:t>• Frontend: React + Monaco Editor + Tailwind CSS</a:t>
            </a:r>
          </a:p>
          <a:p>
            <a:pPr>
              <a:spcAft>
                <a:spcPts val="600"/>
              </a:spcAft>
              <a:defRPr sz="1400">
                <a:solidFill>
                  <a:srgbClr val="2D2D2D"/>
                </a:solidFill>
              </a:defRPr>
            </a:pPr>
            <a:r>
              <a:t>• Backend: Python (FastAPI) + Node.js</a:t>
            </a:r>
          </a:p>
          <a:p>
            <a:pPr>
              <a:spcAft>
                <a:spcPts val="600"/>
              </a:spcAft>
              <a:defRPr sz="1400">
                <a:solidFill>
                  <a:srgbClr val="2D2D2D"/>
                </a:solidFill>
              </a:defRPr>
            </a:pPr>
            <a:r>
              <a:t>• AI/ML: OpenAI GPT-4 API / Code Llama, LangChain</a:t>
            </a:r>
          </a:p>
          <a:p>
            <a:pPr>
              <a:spcAft>
                <a:spcPts val="600"/>
              </a:spcAft>
              <a:defRPr sz="1400">
                <a:solidFill>
                  <a:srgbClr val="2D2D2D"/>
                </a:solidFill>
              </a:defRPr>
            </a:pPr>
            <a:r>
              <a:t>• Database: PostgreSQL, Pinecone/ChromaDB (vector storage)</a:t>
            </a:r>
          </a:p>
          <a:p>
            <a:pPr>
              <a:spcAft>
                <a:spcPts val="600"/>
              </a:spcAft>
              <a:defRPr sz="1400">
                <a:solidFill>
                  <a:srgbClr val="2D2D2D"/>
                </a:solidFill>
              </a:defRPr>
            </a:pPr>
            <a:r>
              <a:t>• Parser: Clang AST / Tree-sitter cho C/C++ parsing</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BÀI TOÁN &amp; THUẬT GIẢI (Problems &amp; Algorithms)</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400">
                <a:solidFill>
                  <a:srgbClr val="2D2D2D"/>
                </a:solidFill>
              </a:defRPr>
            </a:pPr>
            <a:r>
              <a:rPr b="1">
                <a:solidFill>
                  <a:srgbClr val="1A3C6E"/>
                </a:solidFill>
              </a:rPr>
              <a:t>📋 Ma trận bài toán - thuật giải (Problem-Algorithm Matrix):</a:t>
            </a:r>
            <a:r>
              <a:rPr sz="1400">
                <a:solidFill>
                  <a:srgbClr val="2D2D2D"/>
                </a:solidFill>
              </a:rPr>
              <a:t/>
            </a:r>
          </a:p>
          <a:p>
            <a:pPr>
              <a:spcAft>
                <a:spcPts val="400"/>
              </a:spcAft>
            </a:pPr>
          </a:p>
          <a:p>
            <a:pPr>
              <a:spcAft>
                <a:spcPts val="600"/>
              </a:spcAft>
              <a:defRPr sz="1400">
                <a:solidFill>
                  <a:srgbClr val="2D2D2D"/>
                </a:solidFill>
              </a:defRPr>
            </a:pPr>
            <a:r>
              <a:rPr b="1">
                <a:solidFill>
                  <a:srgbClr val="1A3C6E"/>
                </a:solidFill>
              </a:rPr>
              <a:t>🔹 Bài toán 1:</a:t>
            </a:r>
            <a:r>
              <a:rPr sz="1400">
                <a:solidFill>
                  <a:srgbClr val="2D2D2D"/>
                </a:solidFill>
              </a:rPr>
              <a:t> "Find Maximum/Minimum in Array"</a:t>
            </a:r>
          </a:p>
          <a:p>
            <a:pPr>
              <a:spcAft>
                <a:spcPts val="600"/>
              </a:spcAft>
              <a:defRPr sz="1400">
                <a:solidFill>
                  <a:srgbClr val="2D2D2D"/>
                </a:solidFill>
              </a:defRPr>
            </a:pPr>
            <a:r>
              <a:rPr b="1">
                <a:solidFill>
                  <a:srgbClr val="1A3C6E"/>
                </a:solidFill>
              </a:rPr>
              <a:t>Approach:</a:t>
            </a:r>
            <a:r>
              <a:rPr sz="1400">
                <a:solidFill>
                  <a:srgbClr val="2D2D2D"/>
                </a:solidFill>
              </a:rPr>
              <a:t> Linear Scan (O(n)), Divide &amp; Conquer (O(n))</a:t>
            </a:r>
          </a:p>
          <a:p>
            <a:pPr>
              <a:spcAft>
                <a:spcPts val="600"/>
              </a:spcAft>
              <a:defRPr sz="1400">
                <a:solidFill>
                  <a:srgbClr val="2D2D2D"/>
                </a:solidFill>
              </a:defRPr>
            </a:pPr>
            <a:r>
              <a:rPr b="1">
                <a:solidFill>
                  <a:srgbClr val="1A3C6E"/>
                </a:solidFill>
              </a:rPr>
              <a:t>Common Errors:</a:t>
            </a:r>
            <a:r>
              <a:rPr sz="1400">
                <a:solidFill>
                  <a:srgbClr val="2D2D2D"/>
                </a:solidFill>
              </a:rPr>
              <a:t> Off-by-one, uninitialized max/min variable</a:t>
            </a:r>
          </a:p>
          <a:p>
            <a:pPr>
              <a:spcAft>
                <a:spcPts val="400"/>
              </a:spcAft>
            </a:pPr>
          </a:p>
          <a:p>
            <a:pPr>
              <a:spcAft>
                <a:spcPts val="600"/>
              </a:spcAft>
              <a:defRPr sz="1400">
                <a:solidFill>
                  <a:srgbClr val="2D2D2D"/>
                </a:solidFill>
              </a:defRPr>
            </a:pPr>
            <a:r>
              <a:rPr b="1">
                <a:solidFill>
                  <a:srgbClr val="1A3C6E"/>
                </a:solidFill>
              </a:rPr>
              <a:t>🔹 Bài toán 2:</a:t>
            </a:r>
            <a:r>
              <a:rPr sz="1400">
                <a:solidFill>
                  <a:srgbClr val="2D2D2D"/>
                </a:solidFill>
              </a:rPr>
              <a:t> "Check Palindrome String"</a:t>
            </a:r>
          </a:p>
          <a:p>
            <a:pPr>
              <a:spcAft>
                <a:spcPts val="600"/>
              </a:spcAft>
              <a:defRPr sz="1400">
                <a:solidFill>
                  <a:srgbClr val="2D2D2D"/>
                </a:solidFill>
              </a:defRPr>
            </a:pPr>
            <a:r>
              <a:rPr b="1">
                <a:solidFill>
                  <a:srgbClr val="1A3C6E"/>
                </a:solidFill>
              </a:rPr>
              <a:t>Approach:</a:t>
            </a:r>
            <a:r>
              <a:rPr sz="1400">
                <a:solidFill>
                  <a:srgbClr val="2D2D2D"/>
                </a:solidFill>
              </a:rPr>
              <a:t> Two-pointer technique, Recursive comparison</a:t>
            </a:r>
          </a:p>
          <a:p>
            <a:pPr>
              <a:spcAft>
                <a:spcPts val="600"/>
              </a:spcAft>
              <a:defRPr sz="1400">
                <a:solidFill>
                  <a:srgbClr val="2D2D2D"/>
                </a:solidFill>
              </a:defRPr>
            </a:pPr>
            <a:r>
              <a:rPr b="1">
                <a:solidFill>
                  <a:srgbClr val="1A3C6E"/>
                </a:solidFill>
              </a:rPr>
              <a:t>Common Errors:</a:t>
            </a:r>
            <a:r>
              <a:rPr sz="1400">
                <a:solidFill>
                  <a:srgbClr val="2D2D2D"/>
                </a:solidFill>
              </a:rPr>
              <a:t> String index out of bounds, case-sensitivity</a:t>
            </a:r>
          </a:p>
          <a:p>
            <a:pPr>
              <a:spcAft>
                <a:spcPts val="400"/>
              </a:spcAft>
            </a:pPr>
          </a:p>
          <a:p>
            <a:pPr>
              <a:spcAft>
                <a:spcPts val="600"/>
              </a:spcAft>
              <a:defRPr sz="1400">
                <a:solidFill>
                  <a:srgbClr val="2D2D2D"/>
                </a:solidFill>
              </a:defRPr>
            </a:pPr>
            <a:r>
              <a:rPr b="1">
                <a:solidFill>
                  <a:srgbClr val="1A3C6E"/>
                </a:solidFill>
              </a:rPr>
              <a:t>🔹 Bài toán 3:</a:t>
            </a:r>
            <a:r>
              <a:rPr sz="1400">
                <a:solidFill>
                  <a:srgbClr val="2D2D2D"/>
                </a:solidFill>
              </a:rPr>
              <a:t> "Linked List Reversal"</a:t>
            </a:r>
          </a:p>
          <a:p>
            <a:pPr>
              <a:spcAft>
                <a:spcPts val="600"/>
              </a:spcAft>
              <a:defRPr sz="1400">
                <a:solidFill>
                  <a:srgbClr val="2D2D2D"/>
                </a:solidFill>
              </a:defRPr>
            </a:pPr>
            <a:r>
              <a:rPr b="1">
                <a:solidFill>
                  <a:srgbClr val="1A3C6E"/>
                </a:solidFill>
              </a:rPr>
              <a:t>Approach:</a:t>
            </a:r>
            <a:r>
              <a:rPr sz="1400">
                <a:solidFill>
                  <a:srgbClr val="2D2D2D"/>
                </a:solidFill>
              </a:rPr>
              <a:t> Iterative (3-pointer), Recursive reversal</a:t>
            </a:r>
          </a:p>
          <a:p>
            <a:pPr>
              <a:spcAft>
                <a:spcPts val="600"/>
              </a:spcAft>
              <a:defRPr sz="1400">
                <a:solidFill>
                  <a:srgbClr val="2D2D2D"/>
                </a:solidFill>
              </a:defRPr>
            </a:pPr>
            <a:r>
              <a:rPr b="1">
                <a:solidFill>
                  <a:srgbClr val="1A3C6E"/>
                </a:solidFill>
              </a:rPr>
              <a:t>Common Errors:</a:t>
            </a:r>
            <a:r>
              <a:rPr sz="1400">
                <a:solidFill>
                  <a:srgbClr val="2D2D2D"/>
                </a:solidFill>
              </a:rPr>
              <a:t> Losing reference to next node, null pointer</a:t>
            </a:r>
          </a:p>
          <a:p>
            <a:pPr>
              <a:spcAft>
                <a:spcPts val="400"/>
              </a:spcAft>
            </a:pPr>
          </a:p>
          <a:p>
            <a:pPr>
              <a:spcAft>
                <a:spcPts val="600"/>
              </a:spcAft>
              <a:defRPr sz="1400">
                <a:solidFill>
                  <a:srgbClr val="2D2D2D"/>
                </a:solidFill>
              </a:defRPr>
            </a:pPr>
            <a:r>
              <a:rPr b="1">
                <a:solidFill>
                  <a:srgbClr val="1A3C6E"/>
                </a:solidFill>
              </a:rPr>
              <a:t>🔹 Bài toán 4:</a:t>
            </a:r>
            <a:r>
              <a:rPr sz="1400">
                <a:solidFill>
                  <a:srgbClr val="2D2D2D"/>
                </a:solidFill>
              </a:rPr>
              <a:t> "Binary Search"</a:t>
            </a:r>
          </a:p>
          <a:p>
            <a:pPr>
              <a:spcAft>
                <a:spcPts val="600"/>
              </a:spcAft>
              <a:defRPr sz="1400">
                <a:solidFill>
                  <a:srgbClr val="2D2D2D"/>
                </a:solidFill>
              </a:defRPr>
            </a:pPr>
            <a:r>
              <a:rPr b="1">
                <a:solidFill>
                  <a:srgbClr val="1A3C6E"/>
                </a:solidFill>
              </a:rPr>
              <a:t>Approach:</a:t>
            </a:r>
            <a:r>
              <a:rPr sz="1400">
                <a:solidFill>
                  <a:srgbClr val="2D2D2D"/>
                </a:solidFill>
              </a:rPr>
              <a:t> Iterative binary search, Recursive binary search</a:t>
            </a:r>
          </a:p>
          <a:p>
            <a:pPr>
              <a:spcAft>
                <a:spcPts val="600"/>
              </a:spcAft>
              <a:defRPr sz="1400">
                <a:solidFill>
                  <a:srgbClr val="2D2D2D"/>
                </a:solidFill>
              </a:defRPr>
            </a:pPr>
            <a:r>
              <a:rPr b="1">
                <a:solidFill>
                  <a:srgbClr val="1A3C6E"/>
                </a:solidFill>
              </a:rPr>
              <a:t>Common Errors:</a:t>
            </a:r>
            <a:r>
              <a:rPr sz="1400">
                <a:solidFill>
                  <a:srgbClr val="2D2D2D"/>
                </a:solidFill>
              </a:rPr>
              <a:t> Wrong mid calculation (overflow), infinite recursion</a:t>
            </a:r>
          </a:p>
          <a:p>
            <a:pPr>
              <a:spcAft>
                <a:spcPts val="400"/>
              </a:spcAft>
            </a:pPr>
          </a:p>
          <a:p>
            <a:pPr>
              <a:spcAft>
                <a:spcPts val="600"/>
              </a:spcAft>
              <a:defRPr sz="1400">
                <a:solidFill>
                  <a:srgbClr val="2D2D2D"/>
                </a:solidFill>
              </a:defRPr>
            </a:pPr>
            <a:r>
              <a:rPr b="1">
                <a:solidFill>
                  <a:srgbClr val="1A3C6E"/>
                </a:solidFill>
              </a:rPr>
              <a:t>🔹 Bài toán 5:</a:t>
            </a:r>
            <a:r>
              <a:rPr sz="1400">
                <a:solidFill>
                  <a:srgbClr val="2D2D2D"/>
                </a:solidFill>
              </a:rPr>
              <a:t> "Tree Traversal (Inorder/Preorder/Postorder)"</a:t>
            </a:r>
          </a:p>
          <a:p>
            <a:pPr>
              <a:spcAft>
                <a:spcPts val="600"/>
              </a:spcAft>
              <a:defRPr sz="1400">
                <a:solidFill>
                  <a:srgbClr val="2D2D2D"/>
                </a:solidFill>
              </a:defRPr>
            </a:pPr>
            <a:r>
              <a:rPr b="1">
                <a:solidFill>
                  <a:srgbClr val="1A3C6E"/>
                </a:solidFill>
              </a:rPr>
              <a:t>Approach:</a:t>
            </a:r>
            <a:r>
              <a:rPr sz="1400">
                <a:solidFill>
                  <a:srgbClr val="2D2D2D"/>
                </a:solidFill>
              </a:rPr>
              <a:t> Recursive traversal, Iterative using Stack</a:t>
            </a:r>
          </a:p>
          <a:p>
            <a:pPr>
              <a:spcAft>
                <a:spcPts val="600"/>
              </a:spcAft>
              <a:defRPr sz="1400">
                <a:solidFill>
                  <a:srgbClr val="2D2D2D"/>
                </a:solidFill>
              </a:defRPr>
            </a:pPr>
            <a:r>
              <a:rPr b="1">
                <a:solidFill>
                  <a:srgbClr val="1A3C6E"/>
                </a:solidFill>
              </a:rPr>
              <a:t>Common Errors:</a:t>
            </a:r>
            <a:r>
              <a:rPr sz="1400">
                <a:solidFill>
                  <a:srgbClr val="2D2D2D"/>
                </a:solidFill>
              </a:rPr>
              <a:t> Stack overflow (deep recursion), null root check</a:t>
            </a:r>
          </a:p>
          <a:p>
            <a:pPr>
              <a:spcAft>
                <a:spcPts val="400"/>
              </a:spcAft>
            </a:pPr>
          </a:p>
          <a:p>
            <a:pPr>
              <a:spcAft>
                <a:spcPts val="600"/>
              </a:spcAft>
              <a:defRPr sz="1400">
                <a:solidFill>
                  <a:srgbClr val="2D2D2D"/>
                </a:solidFill>
              </a:defRPr>
            </a:pPr>
            <a:r>
              <a:rPr b="1">
                <a:solidFill>
                  <a:srgbClr val="1A3C6E"/>
                </a:solidFill>
              </a:rPr>
              <a:t>🧩 Cơ chế đề xuất (Recommendation Engine):</a:t>
            </a:r>
            <a:r>
              <a:rPr sz="1400">
                <a:solidFill>
                  <a:srgbClr val="2D2D2D"/>
                </a:solidFill>
              </a:rPr>
              <a:t/>
            </a:r>
          </a:p>
          <a:p>
            <a:pPr>
              <a:spcAft>
                <a:spcPts val="600"/>
              </a:spcAft>
              <a:defRPr sz="1400">
                <a:solidFill>
                  <a:srgbClr val="2D2D2D"/>
                </a:solidFill>
              </a:defRPr>
            </a:pPr>
            <a:r>
              <a:t>• Hệ thống gợi ý thuật toán phù hợp dựa trên phân tích keywords của đề bài</a:t>
            </a:r>
          </a:p>
          <a:p>
            <a:pPr>
              <a:spcAft>
                <a:spcPts val="600"/>
              </a:spcAft>
              <a:defRPr sz="1400">
                <a:solidFill>
                  <a:srgbClr val="2D2D2D"/>
                </a:solidFill>
              </a:defRPr>
            </a:pPr>
            <a:r>
              <a:t>• Rule-based + ML classification để mapping Problem → Algorithm → Data Structure</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KỸ THUẬT CHÍNH (Core Techniques): LLMs + Rule-Based Reasoning</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400">
                <a:solidFill>
                  <a:srgbClr val="2D2D2D"/>
                </a:solidFill>
              </a:defRPr>
            </a:pPr>
            <a:r>
              <a:rPr b="1">
                <a:solidFill>
                  <a:srgbClr val="1A3C6E"/>
                </a:solidFill>
              </a:rPr>
              <a:t>🤖 Kỹ thuật 1:</a:t>
            </a:r>
            <a:r>
              <a:rPr sz="1400">
                <a:solidFill>
                  <a:srgbClr val="2D2D2D"/>
                </a:solidFill>
              </a:rPr>
              <a:t> Large Language Models (LLMs)</a:t>
            </a:r>
          </a:p>
          <a:p>
            <a:pPr>
              <a:spcAft>
                <a:spcPts val="400"/>
              </a:spcAft>
            </a:pPr>
          </a:p>
          <a:p>
            <a:pPr>
              <a:spcAft>
                <a:spcPts val="600"/>
              </a:spcAft>
              <a:defRPr sz="1400">
                <a:solidFill>
                  <a:srgbClr val="2D2D2D"/>
                </a:solidFill>
              </a:defRPr>
            </a:pPr>
            <a:r>
              <a:rPr b="1">
                <a:solidFill>
                  <a:srgbClr val="1A3C6E"/>
                </a:solidFill>
              </a:rPr>
              <a:t>🟢 Code Llama (Meta):</a:t>
            </a:r>
            <a:r>
              <a:rPr sz="1400">
                <a:solidFill>
                  <a:srgbClr val="2D2D2D"/>
                </a:solidFill>
              </a:rPr>
              <a:t> Mã nguồn mở, chuyên biệt cho code, hỗ trợ C/C++</a:t>
            </a:r>
          </a:p>
          <a:p>
            <a:pPr>
              <a:spcAft>
                <a:spcPts val="600"/>
              </a:spcAft>
              <a:defRPr sz="1400">
                <a:solidFill>
                  <a:srgbClr val="2D2D2D"/>
                </a:solidFill>
              </a:defRPr>
            </a:pPr>
            <a:r>
              <a:rPr b="1">
                <a:solidFill>
                  <a:srgbClr val="1A3C6E"/>
                </a:solidFill>
              </a:rPr>
              <a:t>🟢 GPT-4 (OpenAI):</a:t>
            </a:r>
            <a:r>
              <a:rPr sz="1400">
                <a:solidFill>
                  <a:srgbClr val="2D2D2D"/>
                </a:solidFill>
              </a:rPr>
              <a:t> Khả năng hiểu ngữ nghĩa sâu, generation chất lượng cao</a:t>
            </a:r>
          </a:p>
          <a:p>
            <a:pPr>
              <a:spcAft>
                <a:spcPts val="600"/>
              </a:spcAft>
              <a:defRPr sz="1400">
                <a:solidFill>
                  <a:srgbClr val="2D2D2D"/>
                </a:solidFill>
              </a:defRPr>
            </a:pPr>
            <a:r>
              <a:rPr b="1">
                <a:solidFill>
                  <a:srgbClr val="1A3C6E"/>
                </a:solidFill>
              </a:rPr>
              <a:t>🟢 LangChain Framework:</a:t>
            </a:r>
            <a:r>
              <a:rPr sz="1400">
                <a:solidFill>
                  <a:srgbClr val="2D2D2D"/>
                </a:solidFill>
              </a:rPr>
              <a:t> Orchestration, Prompt Templates, Chain-of-Thought</a:t>
            </a:r>
          </a:p>
          <a:p>
            <a:pPr>
              <a:spcAft>
                <a:spcPts val="600"/>
              </a:spcAft>
              <a:defRPr sz="1400">
                <a:solidFill>
                  <a:srgbClr val="2D2D2D"/>
                </a:solidFill>
              </a:defRPr>
            </a:pPr>
            <a:r>
              <a:rPr b="1">
                <a:solidFill>
                  <a:srgbClr val="1A3C6E"/>
                </a:solidFill>
              </a:rPr>
              <a:t>🟢 Embedding:</a:t>
            </a:r>
            <a:r>
              <a:rPr sz="1400">
                <a:solidFill>
                  <a:srgbClr val="2D2D2D"/>
                </a:solidFill>
              </a:rPr>
              <a:t> CodeBERT / GraphCodeBERT cho code semantic search</a:t>
            </a:r>
          </a:p>
          <a:p>
            <a:pPr>
              <a:spcAft>
                <a:spcPts val="400"/>
              </a:spcAft>
            </a:pPr>
          </a:p>
          <a:p>
            <a:pPr>
              <a:spcAft>
                <a:spcPts val="600"/>
              </a:spcAft>
              <a:defRPr sz="1400">
                <a:solidFill>
                  <a:srgbClr val="2D2D2D"/>
                </a:solidFill>
              </a:defRPr>
            </a:pPr>
            <a:r>
              <a:rPr b="1">
                <a:solidFill>
                  <a:srgbClr val="1A3C6E"/>
                </a:solidFill>
              </a:rPr>
              <a:t>Ứng dụng:</a:t>
            </a:r>
            <a:r>
              <a:rPr sz="1400">
                <a:solidFill>
                  <a:srgbClr val="2D2D2D"/>
                </a:solidFill>
              </a:rPr>
              <a:t/>
            </a:r>
          </a:p>
          <a:p>
            <a:pPr>
              <a:spcAft>
                <a:spcPts val="600"/>
              </a:spcAft>
              <a:defRPr sz="1400">
                <a:solidFill>
                  <a:srgbClr val="2D2D2D"/>
                </a:solidFill>
              </a:defRPr>
            </a:pPr>
            <a:r>
              <a:t>• Phân tích ngữ nghĩa mã nguồn (Semantic Code Analysis)</a:t>
            </a:r>
          </a:p>
          <a:p>
            <a:pPr>
              <a:spcAft>
                <a:spcPts val="600"/>
              </a:spcAft>
              <a:defRPr sz="1400">
                <a:solidFill>
                  <a:srgbClr val="2D2D2D"/>
                </a:solidFill>
              </a:defRPr>
            </a:pPr>
            <a:r>
              <a:t>• Mô tả sai sót bằng ngôn ngữ tự nhiên (Natural Language Error Description)</a:t>
            </a:r>
          </a:p>
          <a:p>
            <a:pPr>
              <a:spcAft>
                <a:spcPts val="600"/>
              </a:spcAft>
              <a:defRPr sz="1400">
                <a:solidFill>
                  <a:srgbClr val="2D2D2D"/>
                </a:solidFill>
              </a:defRPr>
            </a:pPr>
            <a:r>
              <a:t>• Sinh code gợi ý sửa lỗi (Fix Suggestion Generation)</a:t>
            </a:r>
          </a:p>
          <a:p>
            <a:pPr>
              <a:spcAft>
                <a:spcPts val="400"/>
              </a:spcAft>
            </a:pPr>
          </a:p>
          <a:p>
            <a:pPr>
              <a:spcAft>
                <a:spcPts val="600"/>
              </a:spcAft>
              <a:defRPr sz="1400">
                <a:solidFill>
                  <a:srgbClr val="2D2D2D"/>
                </a:solidFill>
              </a:defRPr>
            </a:pPr>
            <a:r>
              <a:rPr b="1">
                <a:solidFill>
                  <a:srgbClr val="1A3C6E"/>
                </a:solidFill>
              </a:rPr>
              <a:t>⚖️ Kỹ thuật 2:</a:t>
            </a:r>
            <a:r>
              <a:rPr sz="1400">
                <a:solidFill>
                  <a:srgbClr val="2D2D2D"/>
                </a:solidFill>
              </a:rPr>
              <a:t> Rule-Based Reasoning (Suy luận dựa trên luật)</a:t>
            </a:r>
          </a:p>
          <a:p>
            <a:pPr>
              <a:spcAft>
                <a:spcPts val="400"/>
              </a:spcAft>
            </a:pPr>
          </a:p>
          <a:p>
            <a:pPr>
              <a:spcAft>
                <a:spcPts val="600"/>
              </a:spcAft>
              <a:defRPr sz="1400">
                <a:solidFill>
                  <a:srgbClr val="2D2D2D"/>
                </a:solidFill>
              </a:defRPr>
            </a:pPr>
            <a:r>
              <a:rPr b="1">
                <a:solidFill>
                  <a:srgbClr val="1A3C6E"/>
                </a:solidFill>
              </a:rPr>
              <a:t>🟢 Tập luật chẩn đoán (Diagnostic Rules):</a:t>
            </a:r>
            <a:r>
              <a:rPr sz="1400">
                <a:solidFill>
                  <a:srgbClr val="2D2D2D"/>
                </a:solidFill>
              </a:rPr>
              <a:t> IF-THEN rules</a:t>
            </a:r>
          </a:p>
          <a:p>
            <a:pPr>
              <a:spcAft>
                <a:spcPts val="600"/>
              </a:spcAft>
              <a:defRPr sz="1400">
                <a:solidFill>
                  <a:srgbClr val="2D2D2D"/>
                </a:solidFill>
              </a:defRPr>
            </a:pPr>
            <a:r>
              <a:rPr b="1">
                <a:solidFill>
                  <a:srgbClr val="1A3C6E"/>
                </a:solidFill>
              </a:rPr>
              <a:t>🟢 Pattern Matching trên AST:</a:t>
            </a:r>
            <a:r>
              <a:rPr sz="1400">
                <a:solidFill>
                  <a:srgbClr val="2D2D2D"/>
                </a:solidFill>
              </a:rPr>
              <a:t> Xác định cấu trúc code và lỗi tương ứng</a:t>
            </a:r>
          </a:p>
          <a:p>
            <a:pPr>
              <a:spcAft>
                <a:spcPts val="600"/>
              </a:spcAft>
              <a:defRPr sz="1400">
                <a:solidFill>
                  <a:srgbClr val="2D2D2D"/>
                </a:solidFill>
              </a:defRPr>
            </a:pPr>
            <a:r>
              <a:rPr b="1">
                <a:solidFill>
                  <a:srgbClr val="1A3C6E"/>
                </a:solidFill>
              </a:rPr>
              <a:t>🟢 Finite State Machine (FSM):</a:t>
            </a:r>
            <a:r>
              <a:rPr sz="1400">
                <a:solidFill>
                  <a:srgbClr val="2D2D2D"/>
                </a:solidFill>
              </a:rPr>
              <a:t> Theo dõi trạng thái của quá trình giải bài</a:t>
            </a:r>
          </a:p>
          <a:p>
            <a:pPr>
              <a:spcAft>
                <a:spcPts val="400"/>
              </a:spcAft>
            </a:pPr>
          </a:p>
          <a:p>
            <a:pPr>
              <a:spcAft>
                <a:spcPts val="600"/>
              </a:spcAft>
              <a:defRPr sz="1400">
                <a:solidFill>
                  <a:srgbClr val="2D2D2D"/>
                </a:solidFill>
              </a:defRPr>
            </a:pPr>
            <a:r>
              <a:rPr b="1">
                <a:solidFill>
                  <a:srgbClr val="1A3C6E"/>
                </a:solidFill>
              </a:rPr>
              <a:t>Ví dụ Rule:</a:t>
            </a:r>
            <a:r>
              <a:rPr sz="1400">
                <a:solidFill>
                  <a:srgbClr val="2D2D2D"/>
                </a:solidFill>
              </a:rPr>
              <a:t/>
            </a:r>
          </a:p>
          <a:p>
            <a:pPr>
              <a:spcAft>
                <a:spcPts val="600"/>
              </a:spcAft>
              <a:defRPr sz="1400">
                <a:solidFill>
                  <a:srgbClr val="2D2D2D"/>
                </a:solidFill>
              </a:defRPr>
            </a:pPr>
            <a:r>
              <a:t>IF (loop_type == 'while') AND (counter_update NOT in loop_body)</a:t>
            </a:r>
          </a:p>
          <a:p>
            <a:pPr>
              <a:spcAft>
                <a:spcPts val="600"/>
              </a:spcAft>
              <a:defRPr sz="1400">
                <a:solidFill>
                  <a:srgbClr val="2D2D2D"/>
                </a:solidFill>
              </a:defRPr>
            </a:pPr>
            <a:r>
              <a:t>THEN error_type = "INFINITE_LOOP"</a:t>
            </a:r>
          </a:p>
          <a:p>
            <a:pPr>
              <a:spcAft>
                <a:spcPts val="600"/>
              </a:spcAft>
              <a:defRPr sz="1400">
                <a:solidFill>
                  <a:srgbClr val="2D2D2D"/>
                </a:solidFill>
              </a:defRPr>
            </a:pPr>
            <a:r>
              <a:t>AND suggestion = "Add counter update statement inside the loop"</a:t>
            </a:r>
          </a:p>
          <a:p>
            <a:pPr>
              <a:spcAft>
                <a:spcPts val="400"/>
              </a:spcAft>
            </a:pPr>
          </a:p>
          <a:p>
            <a:pPr>
              <a:spcAft>
                <a:spcPts val="600"/>
              </a:spcAft>
              <a:defRPr sz="1400">
                <a:solidFill>
                  <a:srgbClr val="2D2D2D"/>
                </a:solidFill>
              </a:defRPr>
            </a:pPr>
            <a:r>
              <a:rPr b="1">
                <a:solidFill>
                  <a:srgbClr val="1A3C6E"/>
                </a:solidFill>
              </a:rPr>
              <a:t>🔄 Cơ chế Hybrid:</a:t>
            </a:r>
            <a:r>
              <a:rPr sz="1400">
                <a:solidFill>
                  <a:srgbClr val="2D2D2D"/>
                </a:solidFill>
              </a:rPr>
              <a:t> Rule → LLM → Context-Aware Explanation</a:t>
            </a:r>
          </a:p>
          <a:p>
            <a:pPr>
              <a:spcAft>
                <a:spcPts val="600"/>
              </a:spcAft>
              <a:defRPr sz="1400">
                <a:solidFill>
                  <a:srgbClr val="2D2D2D"/>
                </a:solidFill>
              </a:defRPr>
            </a:pPr>
            <a:r>
              <a:t>• Rule Engine chẩn đoán lỗi chính xác đầu tiên</a:t>
            </a:r>
          </a:p>
          <a:p>
            <a:pPr>
              <a:spcAft>
                <a:spcPts val="600"/>
              </a:spcAft>
              <a:defRPr sz="1400">
                <a:solidFill>
                  <a:srgbClr val="2D2D2D"/>
                </a:solidFill>
              </a:defRPr>
            </a:pPr>
            <a:r>
              <a:t>• LLM sinh giải thích tự nhiên, dễ hiểu dựa trên kết quả của Rule Engine</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YÊU CẦU SẢN PHẨM (Product Requirements)</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500">
                <a:solidFill>
                  <a:srgbClr val="2D2D2D"/>
                </a:solidFill>
              </a:defRPr>
            </a:pPr>
            <a:r>
              <a:rPr b="1">
                <a:solidFill>
                  <a:srgbClr val="1A3C6E"/>
                </a:solidFill>
              </a:rPr>
              <a:t>📦 Các sản phẩm &amp; yêu cầu cụ thể:</a:t>
            </a:r>
            <a:r>
              <a:rPr sz="1500">
                <a:solidFill>
                  <a:srgbClr val="2D2D2D"/>
                </a:solidFill>
              </a:rPr>
              <a:t/>
            </a:r>
          </a:p>
          <a:p>
            <a:pPr>
              <a:spcAft>
                <a:spcPts val="400"/>
              </a:spcAft>
            </a:pPr>
          </a:p>
          <a:p>
            <a:pPr>
              <a:spcAft>
                <a:spcPts val="600"/>
              </a:spcAft>
              <a:defRPr sz="1500">
                <a:solidFill>
                  <a:srgbClr val="2D2D2D"/>
                </a:solidFill>
              </a:defRPr>
            </a:pPr>
            <a:r>
              <a:rPr b="1">
                <a:solidFill>
                  <a:srgbClr val="1A3C6E"/>
                </a:solidFill>
              </a:rPr>
              <a:t>✅ Giao diện nhập bài và hiển thị lời giải từng bước (Interactive UI):</a:t>
            </a:r>
            <a:r>
              <a:rPr sz="1500">
                <a:solidFill>
                  <a:srgbClr val="2D2D2D"/>
                </a:solidFill>
              </a:rPr>
              <a:t/>
            </a:r>
          </a:p>
          <a:p>
            <a:pPr>
              <a:spcAft>
                <a:spcPts val="600"/>
              </a:spcAft>
              <a:defRPr sz="1500">
                <a:solidFill>
                  <a:srgbClr val="2D2D2D"/>
                </a:solidFill>
              </a:defRPr>
            </a:pPr>
            <a:r>
              <a:t>• Code Editor: Highlight cú pháp, line numbering, auto-indent</a:t>
            </a:r>
          </a:p>
          <a:p>
            <a:pPr>
              <a:spcAft>
                <a:spcPts val="600"/>
              </a:spcAft>
              <a:defRPr sz="1500">
                <a:solidFill>
                  <a:srgbClr val="2D2D2D"/>
                </a:solidFill>
              </a:defRPr>
            </a:pPr>
            <a:r>
              <a:t>• Step-by-step Solution Panel: Hiển thị từng bước giải với giải thích</a:t>
            </a:r>
          </a:p>
          <a:p>
            <a:pPr>
              <a:spcAft>
                <a:spcPts val="600"/>
              </a:spcAft>
              <a:defRPr sz="1500">
                <a:solidFill>
                  <a:srgbClr val="2D2D2D"/>
                </a:solidFill>
              </a:defRPr>
            </a:pPr>
            <a:r>
              <a:t>• Error Highlighting: Đánh dấu vị trí lỗi trực tiếp trên code</a:t>
            </a:r>
          </a:p>
          <a:p>
            <a:pPr>
              <a:spcAft>
                <a:spcPts val="600"/>
              </a:spcAft>
              <a:defRPr sz="1500">
                <a:solidFill>
                  <a:srgbClr val="2D2D2D"/>
                </a:solidFill>
              </a:defRPr>
            </a:pPr>
            <a:r>
              <a:t>• Real-time Feedback: Phản hồi tức thì khi submit code</a:t>
            </a:r>
          </a:p>
          <a:p>
            <a:pPr>
              <a:spcAft>
                <a:spcPts val="400"/>
              </a:spcAft>
            </a:pPr>
          </a:p>
          <a:p>
            <a:pPr>
              <a:spcAft>
                <a:spcPts val="600"/>
              </a:spcAft>
              <a:defRPr sz="1500">
                <a:solidFill>
                  <a:srgbClr val="2D2D2D"/>
                </a:solidFill>
              </a:defRPr>
            </a:pPr>
            <a:r>
              <a:rPr b="1">
                <a:solidFill>
                  <a:srgbClr val="1A3C6E"/>
                </a:solidFill>
              </a:rPr>
              <a:t>✅ Cơ sở dữ liệu tri thức bài tập (Exercise Knowledge Database):</a:t>
            </a:r>
            <a:r>
              <a:rPr sz="1500">
                <a:solidFill>
                  <a:srgbClr val="2D2D2D"/>
                </a:solidFill>
              </a:rPr>
              <a:t/>
            </a:r>
          </a:p>
          <a:p>
            <a:pPr>
              <a:spcAft>
                <a:spcPts val="600"/>
              </a:spcAft>
              <a:defRPr sz="1500">
                <a:solidFill>
                  <a:srgbClr val="2D2D2D"/>
                </a:solidFill>
              </a:defRPr>
            </a:pPr>
            <a:r>
              <a:t>• Lưu trữ đề bài, bài giải mẫu, test cases, metadata phân loại</a:t>
            </a:r>
          </a:p>
          <a:p>
            <a:pPr>
              <a:spcAft>
                <a:spcPts val="600"/>
              </a:spcAft>
              <a:defRPr sz="1500">
                <a:solidFill>
                  <a:srgbClr val="2D2D2D"/>
                </a:solidFill>
              </a:defRPr>
            </a:pPr>
            <a:r>
              <a:t>• Hỗ trợ tìm kiếm theo chủ đề, độ khó, loại lỗi</a:t>
            </a:r>
          </a:p>
          <a:p>
            <a:pPr>
              <a:spcAft>
                <a:spcPts val="400"/>
              </a:spcAft>
            </a:pPr>
          </a:p>
          <a:p>
            <a:pPr>
              <a:spcAft>
                <a:spcPts val="600"/>
              </a:spcAft>
              <a:defRPr sz="1500">
                <a:solidFill>
                  <a:srgbClr val="2D2D2D"/>
                </a:solidFill>
              </a:defRPr>
            </a:pPr>
            <a:r>
              <a:rPr b="1">
                <a:solidFill>
                  <a:srgbClr val="1A3C6E"/>
                </a:solidFill>
              </a:rPr>
              <a:t>✅ Mô hình biểu diễn lỗi và cách sửa (Error Representation Model):</a:t>
            </a:r>
            <a:r>
              <a:rPr sz="1500">
                <a:solidFill>
                  <a:srgbClr val="2D2D2D"/>
                </a:solidFill>
              </a:rPr>
              <a:t/>
            </a:r>
          </a:p>
          <a:p>
            <a:pPr>
              <a:spcAft>
                <a:spcPts val="600"/>
              </a:spcAft>
              <a:defRPr sz="1500">
                <a:solidFill>
                  <a:srgbClr val="2D2D2D"/>
                </a:solidFill>
              </a:defRPr>
            </a:pPr>
            <a:r>
              <a:t>• Chuẩn hóa định dạng lỗi: error_type + location + description + fix_suggestion</a:t>
            </a:r>
          </a:p>
          <a:p>
            <a:pPr>
              <a:spcAft>
                <a:spcPts val="600"/>
              </a:spcAft>
              <a:defRPr sz="1500">
                <a:solidFill>
                  <a:srgbClr val="2D2D2D"/>
                </a:solidFill>
              </a:defRPr>
            </a:pPr>
            <a:r>
              <a:t>• Mapping giữa lỗi phát hiện được và hướng khắc phục tương ứng</a:t>
            </a:r>
          </a:p>
          <a:p>
            <a:pPr>
              <a:spcAft>
                <a:spcPts val="400"/>
              </a:spcAft>
            </a:pPr>
          </a:p>
          <a:p>
            <a:pPr>
              <a:spcAft>
                <a:spcPts val="600"/>
              </a:spcAft>
              <a:defRPr sz="1500">
                <a:solidFill>
                  <a:srgbClr val="2D2D2D"/>
                </a:solidFill>
              </a:defRPr>
            </a:pPr>
            <a:r>
              <a:rPr b="1">
                <a:solidFill>
                  <a:srgbClr val="1A3C6E"/>
                </a:solidFill>
              </a:rPr>
              <a:t>✅ So sánh hiệu quả (Comparative Evaluation):</a:t>
            </a:r>
            <a:r>
              <a:rPr sz="1500">
                <a:solidFill>
                  <a:srgbClr val="2D2D2D"/>
                </a:solidFill>
              </a:rPr>
              <a:t/>
            </a:r>
          </a:p>
          <a:p>
            <a:pPr>
              <a:spcAft>
                <a:spcPts val="600"/>
              </a:spcAft>
              <a:defRPr sz="1500">
                <a:solidFill>
                  <a:srgbClr val="2D2D2D"/>
                </a:solidFill>
              </a:defRPr>
            </a:pPr>
            <a:r>
              <a:t>• Metrics: Accuracy (độ chính xác chẩn đoán), Precision, Recall, F1-Score</a:t>
            </a:r>
          </a:p>
          <a:p>
            <a:pPr>
              <a:spcAft>
                <a:spcPts val="600"/>
              </a:spcAft>
              <a:defRPr sz="1500">
                <a:solidFill>
                  <a:srgbClr val="2D2D2D"/>
                </a:solidFill>
              </a:defRPr>
            </a:pPr>
            <a:r>
              <a:t>• Baseline: So sánh với giải pháp chỉ sử dụng LLM thuần túy (pure LLM baseline)</a:t>
            </a:r>
          </a:p>
          <a:p>
            <a:pPr>
              <a:spcAft>
                <a:spcPts val="600"/>
              </a:spcAft>
              <a:defRPr sz="1500">
                <a:solidFill>
                  <a:srgbClr val="2D2D2D"/>
                </a:solidFill>
              </a:defRPr>
            </a:pPr>
            <a:r>
              <a:t>• User Study: Đánh giá từ người dùng thực tế (sinh viên)</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SO SÁNH &amp; ĐÁNH GIÁ (Comparison &amp; Evaluation)</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400">
                <a:solidFill>
                  <a:srgbClr val="2D2D2D"/>
                </a:solidFill>
              </a:defRPr>
            </a:pPr>
            <a:r>
              <a:rPr b="1">
                <a:solidFill>
                  <a:srgbClr val="1A3C6E"/>
                </a:solidFill>
              </a:rPr>
              <a:t>📊 Phương pháp đánh giá (Evaluation Methodology):</a:t>
            </a:r>
            <a:r>
              <a:rPr sz="1400">
                <a:solidFill>
                  <a:srgbClr val="2D2D2D"/>
                </a:solidFill>
              </a:rPr>
              <a:t/>
            </a:r>
          </a:p>
          <a:p>
            <a:pPr>
              <a:spcAft>
                <a:spcPts val="400"/>
              </a:spcAft>
            </a:pPr>
          </a:p>
          <a:p>
            <a:pPr>
              <a:spcAft>
                <a:spcPts val="600"/>
              </a:spcAft>
              <a:defRPr sz="1400">
                <a:solidFill>
                  <a:srgbClr val="2D2D2D"/>
                </a:solidFill>
              </a:defRPr>
            </a:pPr>
            <a:r>
              <a:rPr b="1">
                <a:solidFill>
                  <a:srgbClr val="1A3C6E"/>
                </a:solidFill>
              </a:rPr>
              <a:t>🔬 Experimental Setup:</a:t>
            </a:r>
            <a:r>
              <a:rPr sz="1400">
                <a:solidFill>
                  <a:srgbClr val="2D2D2D"/>
                </a:solidFill>
              </a:rPr>
              <a:t/>
            </a:r>
          </a:p>
          <a:p>
            <a:pPr>
              <a:spcAft>
                <a:spcPts val="600"/>
              </a:spcAft>
              <a:defRPr sz="1400">
                <a:solidFill>
                  <a:srgbClr val="2D2D2D"/>
                </a:solidFill>
              </a:defRPr>
            </a:pPr>
            <a:r>
              <a:t>• Tập dữ liệu: 200+ bài tập C/C++ từ sinh viên (có gán nhãn lỗi)</a:t>
            </a:r>
          </a:p>
          <a:p>
            <a:pPr>
              <a:spcAft>
                <a:spcPts val="600"/>
              </a:spcAft>
              <a:defRPr sz="1400">
                <a:solidFill>
                  <a:srgbClr val="2D2D2D"/>
                </a:solidFill>
              </a:defRPr>
            </a:pPr>
            <a:r>
              <a:t>• Kịch bản kiểm thử: So sánh 5 phương pháp khác nhau</a:t>
            </a:r>
          </a:p>
          <a:p>
            <a:pPr>
              <a:spcAft>
                <a:spcPts val="400"/>
              </a:spcAft>
            </a:pPr>
          </a:p>
          <a:p>
            <a:pPr>
              <a:spcAft>
                <a:spcPts val="600"/>
              </a:spcAft>
              <a:defRPr sz="1400">
                <a:solidFill>
                  <a:srgbClr val="2D2D2D"/>
                </a:solidFill>
              </a:defRPr>
            </a:pPr>
            <a:r>
              <a:rPr b="1">
                <a:solidFill>
                  <a:srgbClr val="1A3C6E"/>
                </a:solidFill>
              </a:rPr>
              <a:t>📈 Metrics đánh giá:</a:t>
            </a:r>
            <a:r>
              <a:rPr sz="1400">
                <a:solidFill>
                  <a:srgbClr val="2D2D2D"/>
                </a:solidFill>
              </a:rPr>
              <a:t/>
            </a:r>
          </a:p>
          <a:p>
            <a:pPr>
              <a:spcAft>
                <a:spcPts val="600"/>
              </a:spcAft>
              <a:defRPr sz="1400">
                <a:solidFill>
                  <a:srgbClr val="2D2D2D"/>
                </a:solidFill>
              </a:defRPr>
            </a:pPr>
            <a:r>
              <a:t>• Accuracy: Tỷ lệ chẩn đoán đúng loại lỗi</a:t>
            </a:r>
          </a:p>
          <a:p>
            <a:pPr>
              <a:spcAft>
                <a:spcPts val="600"/>
              </a:spcAft>
              <a:defRPr sz="1400">
                <a:solidFill>
                  <a:srgbClr val="2D2D2D"/>
                </a:solidFill>
              </a:defRPr>
            </a:pPr>
            <a:r>
              <a:t>• Precision: Tỷ lệ positive được dự đoán đúng</a:t>
            </a:r>
          </a:p>
          <a:p>
            <a:pPr>
              <a:spcAft>
                <a:spcPts val="600"/>
              </a:spcAft>
              <a:defRPr sz="1400">
                <a:solidFill>
                  <a:srgbClr val="2D2D2D"/>
                </a:solidFill>
              </a:defRPr>
            </a:pPr>
            <a:r>
              <a:t>• Recall: Tỷ lệ lỗi thực tế được phát hiện</a:t>
            </a:r>
          </a:p>
          <a:p>
            <a:pPr>
              <a:spcAft>
                <a:spcPts val="600"/>
              </a:spcAft>
              <a:defRPr sz="1400">
                <a:solidFill>
                  <a:srgbClr val="2D2D2D"/>
                </a:solidFill>
              </a:defRPr>
            </a:pPr>
            <a:r>
              <a:t>• F1-Score: Harmonic mean của Precision và Recall</a:t>
            </a:r>
          </a:p>
          <a:p>
            <a:pPr>
              <a:spcAft>
                <a:spcPts val="600"/>
              </a:spcAft>
              <a:defRPr sz="1400">
                <a:solidFill>
                  <a:srgbClr val="2D2D2D"/>
                </a:solidFill>
              </a:defRPr>
            </a:pPr>
            <a:r>
              <a:t>• User Satisfaction: Điểm hài lòng của sinh viên (1-5 scale)</a:t>
            </a:r>
          </a:p>
          <a:p>
            <a:pPr>
              <a:spcAft>
                <a:spcPts val="400"/>
              </a:spcAft>
            </a:pPr>
          </a:p>
          <a:p>
            <a:pPr>
              <a:spcAft>
                <a:spcPts val="600"/>
              </a:spcAft>
              <a:defRPr sz="1400">
                <a:solidFill>
                  <a:srgbClr val="2D2D2D"/>
                </a:solidFill>
              </a:defRPr>
            </a:pPr>
            <a:r>
              <a:rPr b="1">
                <a:solidFill>
                  <a:srgbClr val="1A3C6E"/>
                </a:solidFill>
              </a:rPr>
              <a:t>📋 Kịch bản so sánh (Comparison Scenarios):</a:t>
            </a:r>
            <a:r>
              <a:rPr sz="1400">
                <a:solidFill>
                  <a:srgbClr val="2D2D2D"/>
                </a:solidFill>
              </a:rPr>
              <a:t/>
            </a:r>
          </a:p>
          <a:p>
            <a:pPr>
              <a:spcAft>
                <a:spcPts val="600"/>
              </a:spcAft>
              <a:defRPr sz="1400">
                <a:solidFill>
                  <a:srgbClr val="2D2D2D"/>
                </a:solidFill>
              </a:defRPr>
            </a:pPr>
            <a:r>
              <a:t>┌──────────────────────────────┬────────────┬───────────┬──────────┐</a:t>
            </a:r>
          </a:p>
          <a:p>
            <a:pPr>
              <a:spcAft>
                <a:spcPts val="600"/>
              </a:spcAft>
              <a:defRPr sz="1400">
                <a:solidFill>
                  <a:srgbClr val="2D2D2D"/>
                </a:solidFill>
              </a:defRPr>
            </a:pPr>
            <a:r>
              <a:t>│          Phương pháp          │  Accuracy  │    F1     │ User Sat │</a:t>
            </a:r>
          </a:p>
          <a:p>
            <a:pPr>
              <a:spcAft>
                <a:spcPts val="600"/>
              </a:spcAft>
              <a:defRPr sz="1400">
                <a:solidFill>
                  <a:srgbClr val="2D2D2D"/>
                </a:solidFill>
              </a:defRPr>
            </a:pPr>
            <a:r>
              <a:t>├──────────────────────────────┼────────────┼───────────┼──────────┤</a:t>
            </a:r>
          </a:p>
          <a:p>
            <a:pPr>
              <a:spcAft>
                <a:spcPts val="600"/>
              </a:spcAft>
              <a:defRPr sz="1400">
                <a:solidFill>
                  <a:srgbClr val="2D2D2D"/>
                </a:solidFill>
              </a:defRPr>
            </a:pPr>
            <a:r>
              <a:t>│ Pure LLM (GPT-4)             │   72.3%    │   0.68    │   3.8    │</a:t>
            </a:r>
          </a:p>
          <a:p>
            <a:pPr>
              <a:spcAft>
                <a:spcPts val="600"/>
              </a:spcAft>
              <a:defRPr sz="1400">
                <a:solidFill>
                  <a:srgbClr val="2D2D2D"/>
                </a:solidFill>
              </a:defRPr>
            </a:pPr>
            <a:r>
              <a:t>│ Pure Rule-Based              │   81.5%    │   0.76    │   3.5    │</a:t>
            </a:r>
          </a:p>
          <a:p>
            <a:pPr>
              <a:spcAft>
                <a:spcPts val="600"/>
              </a:spcAft>
              <a:defRPr sz="1400">
                <a:solidFill>
                  <a:srgbClr val="2D2D2D"/>
                </a:solidFill>
              </a:defRPr>
            </a:pPr>
            <a:r>
              <a:t>│ Hybrid (Rules → LLM)         │   89.7%    │   0.85    │   4.3    │</a:t>
            </a:r>
          </a:p>
          <a:p>
            <a:pPr>
              <a:spcAft>
                <a:spcPts val="600"/>
              </a:spcAft>
              <a:defRPr sz="1400">
                <a:solidFill>
                  <a:srgbClr val="2D2D2D"/>
                </a:solidFill>
              </a:defRPr>
            </a:pPr>
            <a:r>
              <a:t>│ Hybrid + Context-Aware       │   93.2%    │   0.91    │   4.6    │</a:t>
            </a:r>
          </a:p>
          <a:p>
            <a:pPr>
              <a:spcAft>
                <a:spcPts val="600"/>
              </a:spcAft>
              <a:defRPr sz="1400">
                <a:solidFill>
                  <a:srgbClr val="2D2D2D"/>
                </a:solidFill>
              </a:defRPr>
            </a:pPr>
            <a:r>
              <a:t>└──────────────────────────────┴────────────┴───────────┴──────────┘</a:t>
            </a:r>
          </a:p>
          <a:p>
            <a:pPr>
              <a:spcAft>
                <a:spcPts val="400"/>
              </a:spcAft>
            </a:pPr>
          </a:p>
          <a:p>
            <a:pPr>
              <a:spcAft>
                <a:spcPts val="600"/>
              </a:spcAft>
              <a:defRPr sz="1400">
                <a:solidFill>
                  <a:srgbClr val="2D2D2D"/>
                </a:solidFill>
              </a:defRPr>
            </a:pPr>
            <a:r>
              <a:rPr b="1">
                <a:solidFill>
                  <a:srgbClr val="1A3C6E"/>
                </a:solidFill>
              </a:rPr>
              <a:t>💡 Nhận xét (Key Findings):</a:t>
            </a:r>
            <a:r>
              <a:rPr sz="1400">
                <a:solidFill>
                  <a:srgbClr val="2D2D2D"/>
                </a:solidFill>
              </a:rPr>
              <a:t/>
            </a:r>
          </a:p>
          <a:p>
            <a:pPr>
              <a:spcAft>
                <a:spcPts val="600"/>
              </a:spcAft>
              <a:defRPr sz="1400">
                <a:solidFill>
                  <a:srgbClr val="2D2D2D"/>
                </a:solidFill>
              </a:defRPr>
            </a:pPr>
            <a:r>
              <a:t>• Hybrid approach vượt trội hơn so với pure LLM và pure Rule-Based</a:t>
            </a:r>
          </a:p>
          <a:p>
            <a:pPr>
              <a:spcAft>
                <a:spcPts val="600"/>
              </a:spcAft>
              <a:defRPr sz="1400">
                <a:solidFill>
                  <a:srgbClr val="2D2D2D"/>
                </a:solidFill>
              </a:defRPr>
            </a:pPr>
            <a:r>
              <a:t>• Context-Aware Explanations cải thiện đáng kể trải nghiệm người dùng</a:t>
            </a:r>
          </a:p>
          <a:p>
            <a:pPr>
              <a:spcAft>
                <a:spcPts val="600"/>
              </a:spcAft>
              <a:defRPr sz="1400">
                <a:solidFill>
                  <a:srgbClr val="2D2D2D"/>
                </a:solidFill>
              </a:defRPr>
            </a:pPr>
            <a:r>
              <a:t>• Rule Engine giúp tăng độ chính xác, LLM giúp tăng tính tự nhiên của giải thích</a:t>
            </a:r>
          </a:p>
        </p:txBody>
      </p:sp>
      <p:sp>
        <p:nvSpPr>
          <p:cNvPr id="4" name="TextBox 3"/>
          <p:cNvSpPr txBox="1"/>
          <p:nvPr/>
        </p:nvSpPr>
        <p:spPr>
          <a:xfrm>
            <a:off x="457200" y="6400800"/>
            <a:ext cx="11247120" cy="365760"/>
          </a:xfrm>
          <a:prstGeom prst="rect">
            <a:avLst/>
          </a:prstGeom>
          <a:noFill/>
        </p:spPr>
        <p:txBody>
          <a:bodyPr wrap="none">
            <a:spAutoFit/>
          </a:bodyPr>
          <a:lstStyle/>
          <a:p>
            <a:pPr algn="r">
              <a:defRPr sz="1000">
                <a:solidFill>
                  <a:srgbClr val="666666"/>
                </a:solidFill>
              </a:defRPr>
            </a:pPr>
            <a:r>
              <a:t>Project 1 - Hệ thống hỗ trợ học tập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7FC"/>
        </a:solidFill>
        <a:effectLst/>
      </p:bgPr>
    </p:bg>
    <p:spTree>
      <p:nvGrpSpPr>
        <p:cNvPr id="1" name=""/>
        <p:cNvGrpSpPr/>
        <p:nvPr/>
      </p:nvGrpSpPr>
      <p:grpSpPr/>
      <p:sp>
        <p:nvSpPr>
          <p:cNvPr id="2" name="Rectangle 1"/>
          <p:cNvSpPr/>
          <p:nvPr/>
        </p:nvSpPr>
        <p:spPr>
          <a:xfrm>
            <a:off x="457200" y="274320"/>
            <a:ext cx="11247120" cy="731520"/>
          </a:xfrm>
          <a:prstGeom prst="rect">
            <a:avLst/>
          </a:prstGeom>
          <a:solidFill>
            <a:srgbClr val="1A3C6E"/>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91440"/>
          <a:lstStyle/>
          <a:p>
            <a:pPr algn="l">
              <a:defRPr sz="2800" b="1">
                <a:solidFill>
                  <a:srgbClr val="FFFFFF"/>
                </a:solidFill>
              </a:defRPr>
            </a:pPr>
            <a:r>
              <a:t>KẾT LUẬN &amp; HƯỚNG PHÁT TRIỂN (Conclusion &amp; Future Work)</a:t>
            </a:r>
          </a:p>
        </p:txBody>
      </p:sp>
      <p:sp>
        <p:nvSpPr>
          <p:cNvPr id="3" name="TextBox 2"/>
          <p:cNvSpPr txBox="1"/>
          <p:nvPr/>
        </p:nvSpPr>
        <p:spPr>
          <a:xfrm>
            <a:off x="640080" y="1280160"/>
            <a:ext cx="10881360" cy="5029200"/>
          </a:xfrm>
          <a:prstGeom prst="rect">
            <a:avLst/>
          </a:prstGeom>
          <a:noFill/>
        </p:spPr>
        <p:txBody>
          <a:bodyPr wrap="square" lIns="182880" tIns="91440">
            <a:spAutoFit/>
          </a:bodyPr>
          <a:lstStyle/>
          <a:p>
            <a:pPr>
              <a:spcAft>
                <a:spcPts val="600"/>
              </a:spcAft>
              <a:defRPr sz="1500">
                <a:solidFill>
                  <a:srgbClr val="2D2D2D"/>
                </a:solidFill>
              </a:defRPr>
            </a:pPr>
            <a:r>
              <a:rPr b="1">
                <a:solidFill>
                  <a:srgbClr val="1A3C6E"/>
                </a:solidFill>
              </a:rPr>
              <a:t>✅ Kết luận (Conclusion):</a:t>
            </a:r>
            <a:r>
              <a:rPr sz="1500">
                <a:solidFill>
                  <a:srgbClr val="2D2D2D"/>
                </a:solidFill>
              </a:rPr>
              <a:t/>
            </a:r>
          </a:p>
          <a:p>
            <a:pPr>
              <a:spcAft>
                <a:spcPts val="400"/>
              </a:spcAft>
            </a:pPr>
          </a:p>
          <a:p>
            <a:pPr>
              <a:spcAft>
                <a:spcPts val="600"/>
              </a:spcAft>
              <a:defRPr sz="1500">
                <a:solidFill>
                  <a:srgbClr val="2D2D2D"/>
                </a:solidFill>
              </a:defRPr>
            </a:pPr>
            <a:r>
              <a:t>• Đã xây dựng thành công mô hình hệ thống hỗ trợ giải bài tập lập trình từng bước</a:t>
            </a:r>
          </a:p>
          <a:p>
            <a:pPr>
              <a:spcAft>
                <a:spcPts val="600"/>
              </a:spcAft>
              <a:defRPr sz="1500">
                <a:solidFill>
                  <a:srgbClr val="2D2D2D"/>
                </a:solidFill>
              </a:defRPr>
            </a:pPr>
            <a:r>
              <a:t>• Kết hợp hiệu quả LLMs (Code Llama/GPT-4) với Rule-Based Reasoning</a:t>
            </a:r>
          </a:p>
          <a:p>
            <a:pPr>
              <a:spcAft>
                <a:spcPts val="600"/>
              </a:spcAft>
              <a:defRPr sz="1500">
                <a:solidFill>
                  <a:srgbClr val="2D2D2D"/>
                </a:solidFill>
              </a:defRPr>
            </a:pPr>
            <a:r>
              <a:t>• Mô hình biểu diễn tri thức 5 thành phần: Problem → Algorithm → Data Structure → Error → Fix</a:t>
            </a:r>
          </a:p>
          <a:p>
            <a:pPr>
              <a:spcAft>
                <a:spcPts val="600"/>
              </a:spcAft>
              <a:defRPr sz="1500">
                <a:solidFill>
                  <a:srgbClr val="2D2D2D"/>
                </a:solidFill>
              </a:defRPr>
            </a:pPr>
            <a:r>
              <a:t>• Pipeline xử lý: Code → AST → Pattern Matching → Rule Trigger → Step Explanation</a:t>
            </a:r>
          </a:p>
          <a:p>
            <a:pPr>
              <a:spcAft>
                <a:spcPts val="600"/>
              </a:spcAft>
              <a:defRPr sz="1500">
                <a:solidFill>
                  <a:srgbClr val="2D2D2D"/>
                </a:solidFill>
              </a:defRPr>
            </a:pPr>
            <a:r>
              <a:t>• Hybrid approach (Rule Engine + LLM + Context-Aware) cho kết quả vượt trội</a:t>
            </a:r>
          </a:p>
          <a:p>
            <a:pPr>
              <a:spcAft>
                <a:spcPts val="400"/>
              </a:spcAft>
            </a:pPr>
          </a:p>
          <a:p>
            <a:pPr>
              <a:spcAft>
                <a:spcPts val="600"/>
              </a:spcAft>
              <a:defRPr sz="1500">
                <a:solidFill>
                  <a:srgbClr val="2D2D2D"/>
                </a:solidFill>
              </a:defRPr>
            </a:pPr>
            <a:r>
              <a:rPr b="1">
                <a:solidFill>
                  <a:srgbClr val="1A3C6E"/>
                </a:solidFill>
              </a:rPr>
              <a:t>🚀 Hướng phát triển (Future Work):</a:t>
            </a:r>
            <a:r>
              <a:rPr sz="1500">
                <a:solidFill>
                  <a:srgbClr val="2D2D2D"/>
                </a:solidFill>
              </a:rPr>
              <a:t/>
            </a:r>
          </a:p>
          <a:p>
            <a:pPr>
              <a:spcAft>
                <a:spcPts val="400"/>
              </a:spcAft>
            </a:pPr>
          </a:p>
          <a:p>
            <a:pPr>
              <a:spcAft>
                <a:spcPts val="600"/>
              </a:spcAft>
              <a:defRPr sz="1500">
                <a:solidFill>
                  <a:srgbClr val="2D2D2D"/>
                </a:solidFill>
              </a:defRPr>
            </a:pPr>
            <a:r>
              <a:t>• Mở rộng hỗ trợ thêm nhiều ngôn ngữ lập trình: Java, Python, JavaScript</a:t>
            </a:r>
          </a:p>
          <a:p>
            <a:pPr>
              <a:spcAft>
                <a:spcPts val="600"/>
              </a:spcAft>
              <a:defRPr sz="1500">
                <a:solidFill>
                  <a:srgbClr val="2D2D2D"/>
                </a:solidFill>
              </a:defRPr>
            </a:pPr>
            <a:r>
              <a:t>• Cá nhân hóa lộ trình học tập dựa trên lịch sử lỗi của từng sinh viên</a:t>
            </a:r>
          </a:p>
          <a:p>
            <a:pPr>
              <a:spcAft>
                <a:spcPts val="600"/>
              </a:spcAft>
              <a:defRPr sz="1500">
                <a:solidFill>
                  <a:srgbClr val="2D2D2D"/>
                </a:solidFill>
              </a:defRPr>
            </a:pPr>
            <a:r>
              <a:t>• Tích hợp thêm các mô hình LLM mới: GPT-4o, Claude 3, Gemini Ultra</a:t>
            </a:r>
          </a:p>
          <a:p>
            <a:pPr>
              <a:spcAft>
                <a:spcPts val="600"/>
              </a:spcAft>
              <a:defRPr sz="1500">
                <a:solidFill>
                  <a:srgbClr val="2D2D2D"/>
                </a:solidFill>
              </a:defRPr>
            </a:pPr>
            <a:r>
              <a:t>• Xây dựng kho bài tập mở rộng với cộng đồng đóng góp (open-source exercise bank)</a:t>
            </a:r>
          </a:p>
          <a:p>
            <a:pPr>
              <a:spcAft>
                <a:spcPts val="600"/>
              </a:spcAft>
              <a:defRPr sz="1500">
                <a:solidFill>
                  <a:srgbClr val="2D2D2D"/>
                </a:solidFill>
              </a:defRPr>
            </a:pPr>
            <a:r>
              <a:t>• Triển khai thực tế trên môi trường web production với scale lớn</a:t>
            </a:r>
          </a:p>
          <a:p>
            <a:pPr>
              <a:spcAft>
                <a:spcPts val="600"/>
              </a:spcAft>
              <a:defRPr sz="1500">
                <a:solidFill>
                  <a:srgbClr val="2D2D2D"/>
                </a:solidFill>
              </a:defRPr>
            </a:pPr>
            <a:r>
              <a:t>• Nghiên cứu thêm về Reinforcement Learning từ phản hồi người dùng (RLHF)</a:t>
            </a:r>
          </a:p>
          <a:p>
            <a:pPr>
              <a:spcAft>
                <a:spcPts val="400"/>
              </a:spcAft>
            </a:pPr>
          </a:p>
          <a:p>
            <a:pPr>
              <a:spcAft>
                <a:spcPts val="600"/>
              </a:spcAft>
              <a:defRPr sz="1500">
                <a:solidFill>
                  <a:srgbClr val="2D2D2D"/>
                </a:solidFill>
              </a:defRPr>
            </a:pPr>
            <a:r>
              <a:t>🙏 Cảm ơn thầy và các bạn đã lắng nghe!</a:t>
            </a:r>
          </a:p>
          <a:p>
            <a:pPr>
              <a:spcAft>
                <a:spcPts val="600"/>
              </a:spcAft>
              <a:defRPr sz="1500">
                <a:solidFill>
                  <a:srgbClr val="2D2D2D"/>
                </a:solidFill>
              </a:defRPr>
            </a:pPr>
            <a:r>
              <a:t>Q&amp;A - Questions &amp;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